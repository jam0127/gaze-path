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228F9888.xml" ContentType="application/vnd.ms-powerpoint.comments+xml"/>
  <Override PartName="/ppt/comments/modernComment_101_46086DFC.xml" ContentType="application/vnd.ms-powerpoint.comments+xml"/>
  <Override PartName="/ppt/comments/modernComment_102_D149D0CC.xml" ContentType="application/vnd.ms-powerpoint.comments+xml"/>
  <Override PartName="/ppt/comments/modernComment_103_ACFA26DD.xml" ContentType="application/vnd.ms-powerpoint.comments+xml"/>
  <Override PartName="/ppt/comments/modernComment_104_AB4741CD.xml" ContentType="application/vnd.ms-powerpoint.comments+xml"/>
  <Override PartName="/ppt/comments/modernComment_105_D2AF9B8F.xml" ContentType="application/vnd.ms-powerpoint.comments+xml"/>
  <Override PartName="/ppt/comments/modernComment_106_110635C0.xml" ContentType="application/vnd.ms-powerpoint.comments+xml"/>
  <Override PartName="/ppt/comments/modernComment_107_457E1BE7.xml" ContentType="application/vnd.ms-powerpoint.comments+xml"/>
  <Override PartName="/ppt/comments/modernComment_108_546A4E56.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5247F64-37B1-A156-C963-F84EF9C2569E}" name=" " initials="MOU" userId=" "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575"/>
    <p:restoredTop sz="91468"/>
  </p:normalViewPr>
  <p:slideViewPr>
    <p:cSldViewPr snapToGrid="0">
      <p:cViewPr>
        <p:scale>
          <a:sx n="49" d="100"/>
          <a:sy n="49" d="100"/>
        </p:scale>
        <p:origin x="272" y="10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8/10/relationships/authors" Targe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omments/modernComment_100_228F9888.xml><?xml version="1.0" encoding="utf-8"?>
<p188:cmLst xmlns:a="http://schemas.openxmlformats.org/drawingml/2006/main" xmlns:r="http://schemas.openxmlformats.org/officeDocument/2006/relationships" xmlns:p188="http://schemas.microsoft.com/office/powerpoint/2018/8/main">
  <p188:cm id="{AE864AD6-1441-AA48-9C39-C49B2C9CD02C}" authorId="{15247F64-37B1-A156-C963-F84EF9C2569E}" created="2026-10-18T15:52:38.565">
    <pc:sldMkLst xmlns:pc="http://schemas.microsoft.com/office/powerpoint/2013/main/command">
      <pc:docMk/>
      <pc:sldMk cId="579836040" sldId="256"/>
    </pc:sldMkLst>
    <p188:replyLst>
      <p188:reply id="{311492B0-C668-9248-A069-BC6D9923B462}" authorId="{15247F64-37B1-A156-C963-F84EF9C2569E}" created="2026-10-19T14:22:29.871">
        <p188:txBody>
          <a:bodyPr/>
          <a:lstStyle/>
          <a:p>
            <a:r>
              <a:rPr lang="zh-CN" altLang="en-US"/>
              <a:t>the majority of human judgement matched both the old and new method</a:t>
            </a:r>
          </a:p>
        </p188:txBody>
      </p188:reply>
    </p188:replyLst>
    <p188:txBody>
      <a:bodyPr/>
      <a:lstStyle/>
      <a:p>
        <a:r>
          <a:rPr lang="zh-CN" altLang="en-US"/>
          <a:t>Both old and new method marked the centre fixation (id:58) as linear reading (L)</a:t>
        </a:r>
      </a:p>
    </p188:txBody>
  </p188:cm>
</p188:cmLst>
</file>

<file path=ppt/comments/modernComment_101_46086DFC.xml><?xml version="1.0" encoding="utf-8"?>
<p188:cmLst xmlns:a="http://schemas.openxmlformats.org/drawingml/2006/main" xmlns:r="http://schemas.openxmlformats.org/officeDocument/2006/relationships" xmlns:p188="http://schemas.microsoft.com/office/powerpoint/2018/8/main">
  <p188:cm id="{02BA140F-7F78-974A-B3B7-98DC4EEC0B43}" authorId="{15247F64-37B1-A156-C963-F84EF9C2569E}" created="2026-10-18T16:11:45.288">
    <pc:sldMkLst xmlns:pc="http://schemas.microsoft.com/office/powerpoint/2013/main/command">
      <pc:docMk/>
      <pc:sldMk cId="1174957564" sldId="257"/>
    </pc:sldMkLst>
    <p188:replyLst>
      <p188:reply id="{7C1AD2BB-2EB6-4649-A524-B356E081A905}" authorId="{15247F64-37B1-A156-C963-F84EF9C2569E}" created="2026-10-19T14:23:53.970">
        <p188:txBody>
          <a:bodyPr/>
          <a:lstStyle/>
          <a:p>
            <a:r>
              <a:rPr lang="zh-CN" altLang="en-US"/>
              <a:t>the majority of human judgement did not match the new method, but it is possible that this mismatch is caused by the missing data of ID 18 in the exercise.</a:t>
            </a:r>
          </a:p>
        </p188:txBody>
      </p188:reply>
    </p188:replyLst>
    <p188:txBody>
      <a:bodyPr/>
      <a:lstStyle/>
      <a:p>
        <a:r>
          <a:rPr lang="zh-CN" altLang="en-US"/>
          <a:t>the old method marked the centre fixation (id:21) as linear reading (L), while the new method marked it as re-reading (R). 
it should be noted that the first fixation in this graph is actually ID 18, the data of ID 18 was not shown.</a:t>
        </a:r>
      </a:p>
    </p188:txBody>
  </p188:cm>
</p188:cmLst>
</file>

<file path=ppt/comments/modernComment_102_D149D0CC.xml><?xml version="1.0" encoding="utf-8"?>
<p188:cmLst xmlns:a="http://schemas.openxmlformats.org/drawingml/2006/main" xmlns:r="http://schemas.openxmlformats.org/officeDocument/2006/relationships" xmlns:p188="http://schemas.microsoft.com/office/powerpoint/2018/8/main">
  <p188:cm id="{8CDA7301-FB98-524F-8432-204841FCAB0D}" authorId="{15247F64-37B1-A156-C963-F84EF9C2569E}" created="2026-10-19T14:32:08.151">
    <pc:sldMkLst xmlns:pc="http://schemas.microsoft.com/office/powerpoint/2013/main/command">
      <pc:docMk/>
      <pc:sldMk cId="3511275724" sldId="258"/>
    </pc:sldMkLst>
    <p188:replyLst>
      <p188:reply id="{362CBFE4-54A8-B147-82EF-D3D002F905A7}" authorId="{15247F64-37B1-A156-C963-F84EF9C2569E}" created="2026-10-19T14:32:32.654">
        <p188:txBody>
          <a:bodyPr/>
          <a:lstStyle/>
          <a:p>
            <a:r>
              <a:rPr lang="zh-CN" altLang="en-US"/>
              <a:t>the majority of human judgement matched the new method</a:t>
            </a:r>
          </a:p>
        </p188:txBody>
      </p188:reply>
    </p188:replyLst>
    <p188:txBody>
      <a:bodyPr/>
      <a:lstStyle/>
      <a:p>
        <a:r>
          <a:rPr lang="zh-CN" altLang="en-US"/>
          <a:t>the old method marked the centre fixation (ID 304) as linear-reading, while the new method marked it as re-reading </a:t>
        </a:r>
      </a:p>
    </p188:txBody>
  </p188:cm>
</p188:cmLst>
</file>

<file path=ppt/comments/modernComment_103_ACFA26DD.xml><?xml version="1.0" encoding="utf-8"?>
<p188:cmLst xmlns:a="http://schemas.openxmlformats.org/drawingml/2006/main" xmlns:r="http://schemas.openxmlformats.org/officeDocument/2006/relationships" xmlns:p188="http://schemas.microsoft.com/office/powerpoint/2018/8/main">
  <p188:cm id="{7B05CA37-10C5-4647-8A25-6A08E14864C8}" authorId="{15247F64-37B1-A156-C963-F84EF9C2569E}" created="2026-10-18T16:16:17.404">
    <pc:sldMkLst xmlns:pc="http://schemas.microsoft.com/office/powerpoint/2013/main/command">
      <pc:docMk/>
      <pc:sldMk cId="2902075101" sldId="259"/>
    </pc:sldMkLst>
    <p188:replyLst>
      <p188:reply id="{DAF9F697-9BCE-7143-A17C-A5A16628F3BC}" authorId="{15247F64-37B1-A156-C963-F84EF9C2569E}" created="2026-10-19T14:34:26.479">
        <p188:txBody>
          <a:bodyPr/>
          <a:lstStyle/>
          <a:p>
            <a:r>
              <a:rPr lang="zh-CN" altLang="en-US"/>
              <a:t>although the majority of human judgement did not agree with the new method, 38.46% of the participants believed that the centre fixation should be marked as linear-reading</a:t>
            </a:r>
          </a:p>
        </p188:txBody>
      </p188:reply>
    </p188:replyLst>
    <p188:txBody>
      <a:bodyPr/>
      <a:lstStyle/>
      <a:p>
        <a:r>
          <a:rPr lang="zh-CN" altLang="en-US"/>
          <a:t>both the old and new method marked the centre fixation (id:870) as linear reading (L) 
It should be noted that there was an "outlier" (ID 868)in this window</a:t>
        </a:r>
      </a:p>
    </p188:txBody>
  </p188:cm>
</p188:cmLst>
</file>

<file path=ppt/comments/modernComment_104_AB4741CD.xml><?xml version="1.0" encoding="utf-8"?>
<p188:cmLst xmlns:a="http://schemas.openxmlformats.org/drawingml/2006/main" xmlns:r="http://schemas.openxmlformats.org/officeDocument/2006/relationships" xmlns:p188="http://schemas.microsoft.com/office/powerpoint/2018/8/main">
  <p188:cm id="{24AA5EB9-F140-264B-B362-7AC0B6E55D79}" authorId="{15247F64-37B1-A156-C963-F84EF9C2569E}" created="2026-10-19T14:40:49.532">
    <pc:sldMkLst xmlns:pc="http://schemas.microsoft.com/office/powerpoint/2013/main/command">
      <pc:docMk/>
      <pc:sldMk cId="2873573837" sldId="260"/>
    </pc:sldMkLst>
    <p188:replyLst>
      <p188:reply id="{6FE8F96B-CFD2-494A-B767-502EF96242EB}" authorId="{15247F64-37B1-A156-C963-F84EF9C2569E}" created="2026-10-19T14:43:08.446">
        <p188:txBody>
          <a:bodyPr/>
          <a:lstStyle/>
          <a:p>
            <a:r>
              <a:rPr lang="zh-CN" altLang="en-US"/>
              <a:t>although the majority of human judgement did not agree with the new method, 30.77% of the participants believed that the centre fixation should be marked as skimming</a:t>
            </a:r>
          </a:p>
        </p188:txBody>
      </p188:reply>
    </p188:replyLst>
    <p188:txBody>
      <a:bodyPr/>
      <a:lstStyle/>
      <a:p>
        <a:r>
          <a:rPr lang="zh-CN" altLang="en-US"/>
          <a:t>the old method marked the centre fixation (ID 1034) as scattered, while the new method marked it as skimming</a:t>
        </a:r>
      </a:p>
    </p188:txBody>
  </p188:cm>
</p188:cmLst>
</file>

<file path=ppt/comments/modernComment_105_D2AF9B8F.xml><?xml version="1.0" encoding="utf-8"?>
<p188:cmLst xmlns:a="http://schemas.openxmlformats.org/drawingml/2006/main" xmlns:r="http://schemas.openxmlformats.org/officeDocument/2006/relationships" xmlns:p188="http://schemas.microsoft.com/office/powerpoint/2018/8/main">
  <p188:cm id="{E7718888-F445-CB49-8298-A02BF4072B39}" authorId="{15247F64-37B1-A156-C963-F84EF9C2569E}" created="2026-10-19T14:21:47.908">
    <pc:sldMkLst xmlns:pc="http://schemas.microsoft.com/office/powerpoint/2013/main/command">
      <pc:docMk/>
      <pc:sldMk cId="3534723983" sldId="261"/>
    </pc:sldMkLst>
    <p188:replyLst>
      <p188:reply id="{DC76E0C3-54FE-684B-BA91-E4BCF91364C6}" authorId="{15247F64-37B1-A156-C963-F84EF9C2569E}" created="2026-10-19T14:25:03.914">
        <p188:txBody>
          <a:bodyPr/>
          <a:lstStyle/>
          <a:p>
            <a:r>
              <a:rPr lang="zh-CN" altLang="en-US"/>
              <a:t>the majority of human judgement matched the new method</a:t>
            </a:r>
          </a:p>
        </p188:txBody>
      </p188:reply>
    </p188:replyLst>
    <p188:txBody>
      <a:bodyPr/>
      <a:lstStyle/>
      <a:p>
        <a:r>
          <a:rPr lang="zh-CN" altLang="en-US"/>
          <a:t>the old method marked the centre fixation (ID 864) as linear reading, while the new method marked it as re-reading</a:t>
        </a:r>
      </a:p>
    </p188:txBody>
  </p188:cm>
</p188:cmLst>
</file>

<file path=ppt/comments/modernComment_106_110635C0.xml><?xml version="1.0" encoding="utf-8"?>
<p188:cmLst xmlns:a="http://schemas.openxmlformats.org/drawingml/2006/main" xmlns:r="http://schemas.openxmlformats.org/officeDocument/2006/relationships" xmlns:p188="http://schemas.microsoft.com/office/powerpoint/2018/8/main">
  <p188:cm id="{E1650C34-F26F-8D4B-B902-36E9FFC05886}" authorId="{15247F64-37B1-A156-C963-F84EF9C2569E}" created="2026-10-19T14:18:46.874">
    <pc:sldMkLst xmlns:pc="http://schemas.microsoft.com/office/powerpoint/2013/main/command">
      <pc:docMk/>
      <pc:sldMk cId="285619648" sldId="262"/>
    </pc:sldMkLst>
    <p188:replyLst>
      <p188:reply id="{EA05EE0C-8870-E742-BF17-6FC079D771FB}" authorId="{15247F64-37B1-A156-C963-F84EF9C2569E}" created="2026-10-19T14:44:35.796">
        <p188:txBody>
          <a:bodyPr/>
          <a:lstStyle/>
          <a:p>
            <a:r>
              <a:rPr lang="zh-CN" altLang="en-US"/>
              <a:t>the majority of human judgement did not match the new method </a:t>
            </a:r>
          </a:p>
        </p188:txBody>
      </p188:reply>
      <p188:reply id="{F61294A0-1AA3-F948-9F64-43F4FB6B658E}" authorId="{15247F64-37B1-A156-C963-F84EF9C2569E}" created="2026-10-20T14:56:29.364">
        <p188:txBody>
          <a:bodyPr/>
          <a:lstStyle/>
          <a:p>
            <a:r>
              <a:rPr lang="zh-CN" altLang="en-US"/>
              <a:t>Note for discussion: Re-evaluating Fixation 815 as Others
After a closer look at Fixation 815, I believe it should be classified as Others (O), not Linear or Skimming.
Algorithmically, it was labeled Linear because the net word progression was positive (+18) and the CV was low. 
However, looking at the raw data, the first five fixations (812–816) were extremely short (&lt; 200 ms) with massive jumps (backward and forward). Then, the last two fixations (817 and 818) suddenly became longer (690 ms and 1297 ms).
This pattern is neither continuous linear reading nor a sustained skimming scan. It is likely a rapid visual repositioning (drift) followed by longer fixations. Therefore, it aligns better with the Others category.
To fix this, I initially considered spatial constraints (like Regcount &lt; 2), but this could unfairly penalize a single, large accidental drift (e.g., looking at the wrong line once)
Therefore, I propose adding a temporal lower bound to Rule 3 (e.g., WIN_DUR &gt; 0.7 * BASE_DUR). In this specific case, the translator's baseline is 263 ms, but the window's median duration is only 146 ms (55% of their normal speed). Because the window is moving too fast to represent "normal and continuous" reading, adding this temporal threshold would effectively exclude 815 from the Linear category and correctly place it in Others. What are your thoughts?</a:t>
            </a:r>
          </a:p>
        </p188:txBody>
      </p188:reply>
    </p188:replyLst>
    <p188:txBody>
      <a:bodyPr/>
      <a:lstStyle/>
      <a:p>
        <a:r>
          <a:rPr lang="zh-CN" altLang="en-US"/>
          <a:t>the old method marked the centre fixation (ID 815) as scattered reading, while the new method marked it as linear reading</a:t>
        </a:r>
      </a:p>
    </p188:txBody>
  </p188:cm>
</p188:cmLst>
</file>

<file path=ppt/comments/modernComment_107_457E1BE7.xml><?xml version="1.0" encoding="utf-8"?>
<p188:cmLst xmlns:a="http://schemas.openxmlformats.org/drawingml/2006/main" xmlns:r="http://schemas.openxmlformats.org/officeDocument/2006/relationships" xmlns:p188="http://schemas.microsoft.com/office/powerpoint/2018/8/main">
  <p188:cm id="{5F8EE178-3ADC-C44B-99B2-5990A568CAE8}" authorId="{15247F64-37B1-A156-C963-F84EF9C2569E}" created="2026-10-19T14:14:37.061">
    <pc:sldMkLst xmlns:pc="http://schemas.microsoft.com/office/powerpoint/2013/main/command">
      <pc:docMk/>
      <pc:sldMk cId="1165892583" sldId="263"/>
    </pc:sldMkLst>
    <p188:replyLst>
      <p188:reply id="{A4F5D510-68C0-C141-B9BC-2AAB317ACD39}" authorId="{15247F64-37B1-A156-C963-F84EF9C2569E}" created="2026-10-19T14:44:56.702">
        <p188:txBody>
          <a:bodyPr/>
          <a:lstStyle/>
          <a:p>
            <a:r>
              <a:rPr lang="zh-CN" altLang="en-US"/>
              <a:t>the majority of human judgement did not match the new method</a:t>
            </a:r>
          </a:p>
        </p188:txBody>
      </p188:reply>
      <p188:reply id="{758EB6AF-DE58-1843-9026-C6E79D016EF8}" authorId="{15247F64-37B1-A156-C963-F84EF9C2569E}" created="2026-10-20T15:51:32.980">
        <p188:txBody>
          <a:bodyPr/>
          <a:lstStyle/>
          <a:p>
            <a:r>
              <a:rPr lang="zh-CN" altLang="en-US"/>
              <a:t>Looking closely at ID 8, we can see the effect of the sliding window. This 7-fixation window (Id 5–11) has a negative net progression (-5) solely because of the massive backward jump from Id 5 to Id 6 (-12 words). Crucially, the fixation at Id 5 is not a tracking error or noise; its exceptionally long duration (3146 ms) indicates a moment of intense cognitive processing or a significant reading disruption (e.g., getting stuck or checking external references). Therefore, the subsequent backward jump represents a genuine cognitive regression.
However, from Id 6 to Id 11, the trajectory recovers into a perfectly linear forward movement. Because the window's median duration is long and the saccades are not extremely small, it doesn't fit Rule 2B. Therefore, it falls into Others. 
This is actually a desirable outcome: it captures the transitional state where the translator has just recovered from a massive reading disruption and is transitioning back into linear reading. Once the window slides past Id 5 (e.g., centering on Id 9 or 10), the label correctly switches back to Linear.</a:t>
            </a:r>
          </a:p>
        </p188:txBody>
      </p188:reply>
    </p188:replyLst>
    <p188:txBody>
      <a:bodyPr/>
      <a:lstStyle/>
      <a:p>
        <a:r>
          <a:rPr lang="zh-CN" altLang="en-US"/>
          <a:t>the old method marked the centre fixation (ID 8) as linear-reading while the new method marked it as others</a:t>
        </a:r>
      </a:p>
    </p188:txBody>
  </p188:cm>
</p188:cmLst>
</file>

<file path=ppt/comments/modernComment_108_546A4E56.xml><?xml version="1.0" encoding="utf-8"?>
<p188:cmLst xmlns:a="http://schemas.openxmlformats.org/drawingml/2006/main" xmlns:r="http://schemas.openxmlformats.org/officeDocument/2006/relationships" xmlns:p188="http://schemas.microsoft.com/office/powerpoint/2018/8/main">
  <p188:cm id="{D833D25D-7797-0D4C-92C7-4FB70BEB3939}" authorId="{15247F64-37B1-A156-C963-F84EF9C2569E}" created="2026-10-19T14:08:04.619">
    <pc:sldMkLst xmlns:pc="http://schemas.microsoft.com/office/powerpoint/2013/main/command">
      <pc:docMk/>
      <pc:sldMk cId="1416253014" sldId="264"/>
    </pc:sldMkLst>
    <p188:replyLst>
      <p188:reply id="{271F5094-F198-C74E-92A9-BFC4266DC8E9}" authorId="{15247F64-37B1-A156-C963-F84EF9C2569E}" created="2026-10-19T14:45:34.099">
        <p188:txBody>
          <a:bodyPr/>
          <a:lstStyle/>
          <a:p>
            <a:r>
              <a:rPr lang="zh-CN" altLang="en-US"/>
              <a:t>the majority of human judgement matched the new method</a:t>
            </a:r>
          </a:p>
        </p188:txBody>
      </p188:reply>
    </p188:replyLst>
    <p188:txBody>
      <a:bodyPr/>
      <a:lstStyle/>
      <a:p>
        <a:r>
          <a:rPr lang="zh-CN" altLang="en-US"/>
          <a:t>this one is a five-point window.
the old method marked the centre fixation (ID 1364)as scattered, while the new method marked it as skimming.</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04BA79-AF61-374F-9659-D8271F4859AB}" type="datetimeFigureOut">
              <a:rPr kumimoji="1" lang="zh-CN" altLang="en-US" smtClean="0"/>
              <a:t>2026/10/20</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9FFB85-BF81-324C-A00B-34499F16C0D1}" type="slidenum">
              <a:rPr kumimoji="1" lang="zh-CN" altLang="en-US" smtClean="0"/>
              <a:t>‹#›</a:t>
            </a:fld>
            <a:endParaRPr kumimoji="1" lang="zh-CN" altLang="en-US"/>
          </a:p>
        </p:txBody>
      </p:sp>
    </p:spTree>
    <p:extLst>
      <p:ext uri="{BB962C8B-B14F-4D97-AF65-F5344CB8AC3E}">
        <p14:creationId xmlns:p14="http://schemas.microsoft.com/office/powerpoint/2010/main" val="24048971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519FFB85-BF81-324C-A00B-34499F16C0D1}" type="slidenum">
              <a:rPr kumimoji="1" lang="zh-CN" altLang="en-US" smtClean="0"/>
              <a:t>1</a:t>
            </a:fld>
            <a:endParaRPr kumimoji="1" lang="zh-CN" altLang="en-US"/>
          </a:p>
        </p:txBody>
      </p:sp>
    </p:spTree>
    <p:extLst>
      <p:ext uri="{BB962C8B-B14F-4D97-AF65-F5344CB8AC3E}">
        <p14:creationId xmlns:p14="http://schemas.microsoft.com/office/powerpoint/2010/main" val="1195981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05007A-4783-B042-92EF-BCECD42198C8}"/>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E90B7674-4A3A-BFB8-379F-20028EC5C2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74CA6511-9025-CD62-FDAD-D4B3D190BA9E}"/>
              </a:ext>
            </a:extLst>
          </p:cNvPr>
          <p:cNvSpPr>
            <a:spLocks noGrp="1"/>
          </p:cNvSpPr>
          <p:nvPr>
            <p:ph type="dt" sz="half" idx="10"/>
          </p:nvPr>
        </p:nvSpPr>
        <p:spPr/>
        <p:txBody>
          <a:bodyPr/>
          <a:lstStyle/>
          <a:p>
            <a:fld id="{1F4754EA-BEF8-1E41-B107-F1495E8B8D04}" type="datetimeFigureOut">
              <a:rPr kumimoji="1" lang="zh-CN" altLang="en-US" smtClean="0"/>
              <a:t>2026/10/20</a:t>
            </a:fld>
            <a:endParaRPr kumimoji="1" lang="zh-CN" altLang="en-US"/>
          </a:p>
        </p:txBody>
      </p:sp>
      <p:sp>
        <p:nvSpPr>
          <p:cNvPr id="5" name="页脚占位符 4">
            <a:extLst>
              <a:ext uri="{FF2B5EF4-FFF2-40B4-BE49-F238E27FC236}">
                <a16:creationId xmlns:a16="http://schemas.microsoft.com/office/drawing/2014/main" id="{FB4CEA56-5CD0-ECB7-5707-2E070045FD95}"/>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CDDEC2C0-10CE-DCE9-4684-6DEDBC4CA1B9}"/>
              </a:ext>
            </a:extLst>
          </p:cNvPr>
          <p:cNvSpPr>
            <a:spLocks noGrp="1"/>
          </p:cNvSpPr>
          <p:nvPr>
            <p:ph type="sldNum" sz="quarter" idx="12"/>
          </p:nvPr>
        </p:nvSpPr>
        <p:spPr/>
        <p:txBody>
          <a:body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42279818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D63FBD3-9B98-B0C2-7EC8-A15E3C7A08ED}"/>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D19EB0AB-1869-FED4-D40D-DF07423217A1}"/>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059C017D-A262-AE06-C99C-248B772EA914}"/>
              </a:ext>
            </a:extLst>
          </p:cNvPr>
          <p:cNvSpPr>
            <a:spLocks noGrp="1"/>
          </p:cNvSpPr>
          <p:nvPr>
            <p:ph type="dt" sz="half" idx="10"/>
          </p:nvPr>
        </p:nvSpPr>
        <p:spPr/>
        <p:txBody>
          <a:bodyPr/>
          <a:lstStyle/>
          <a:p>
            <a:fld id="{1F4754EA-BEF8-1E41-B107-F1495E8B8D04}" type="datetimeFigureOut">
              <a:rPr kumimoji="1" lang="zh-CN" altLang="en-US" smtClean="0"/>
              <a:t>2026/10/20</a:t>
            </a:fld>
            <a:endParaRPr kumimoji="1" lang="zh-CN" altLang="en-US"/>
          </a:p>
        </p:txBody>
      </p:sp>
      <p:sp>
        <p:nvSpPr>
          <p:cNvPr id="5" name="页脚占位符 4">
            <a:extLst>
              <a:ext uri="{FF2B5EF4-FFF2-40B4-BE49-F238E27FC236}">
                <a16:creationId xmlns:a16="http://schemas.microsoft.com/office/drawing/2014/main" id="{FA4E11C5-2712-A73F-0FE1-1B74EB6AAD6C}"/>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C5187AC-B1AA-7BC1-C865-9D91DD32BD58}"/>
              </a:ext>
            </a:extLst>
          </p:cNvPr>
          <p:cNvSpPr>
            <a:spLocks noGrp="1"/>
          </p:cNvSpPr>
          <p:nvPr>
            <p:ph type="sldNum" sz="quarter" idx="12"/>
          </p:nvPr>
        </p:nvSpPr>
        <p:spPr/>
        <p:txBody>
          <a:body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10335725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912295-0CD9-A1A6-C7D1-AF7712521C6B}"/>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BC0B08A5-DB66-CFAA-9E36-4D47E93C872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2AF05C55-62CA-B94C-EDBF-3BEE1D68D70F}"/>
              </a:ext>
            </a:extLst>
          </p:cNvPr>
          <p:cNvSpPr>
            <a:spLocks noGrp="1"/>
          </p:cNvSpPr>
          <p:nvPr>
            <p:ph type="dt" sz="half" idx="10"/>
          </p:nvPr>
        </p:nvSpPr>
        <p:spPr/>
        <p:txBody>
          <a:bodyPr/>
          <a:lstStyle/>
          <a:p>
            <a:fld id="{1F4754EA-BEF8-1E41-B107-F1495E8B8D04}" type="datetimeFigureOut">
              <a:rPr kumimoji="1" lang="zh-CN" altLang="en-US" smtClean="0"/>
              <a:t>2026/10/20</a:t>
            </a:fld>
            <a:endParaRPr kumimoji="1" lang="zh-CN" altLang="en-US"/>
          </a:p>
        </p:txBody>
      </p:sp>
      <p:sp>
        <p:nvSpPr>
          <p:cNvPr id="5" name="页脚占位符 4">
            <a:extLst>
              <a:ext uri="{FF2B5EF4-FFF2-40B4-BE49-F238E27FC236}">
                <a16:creationId xmlns:a16="http://schemas.microsoft.com/office/drawing/2014/main" id="{50ED4EAD-0426-BDDD-C7A6-9F4B5149DE4F}"/>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3BA45B01-2CE7-2E54-0A71-E99FE3022762}"/>
              </a:ext>
            </a:extLst>
          </p:cNvPr>
          <p:cNvSpPr>
            <a:spLocks noGrp="1"/>
          </p:cNvSpPr>
          <p:nvPr>
            <p:ph type="sldNum" sz="quarter" idx="12"/>
          </p:nvPr>
        </p:nvSpPr>
        <p:spPr/>
        <p:txBody>
          <a:body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30634168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9EC490C-FF8D-2E39-D3F4-0D05D4962424}"/>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17D239A2-C77F-AFCA-238F-97D364D27B7C}"/>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F12F7B61-3C22-A01C-1D9F-B1F97E16AC6C}"/>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96AC2CB5-9F1F-4FC1-F917-B61260129C37}"/>
              </a:ext>
            </a:extLst>
          </p:cNvPr>
          <p:cNvSpPr>
            <a:spLocks noGrp="1"/>
          </p:cNvSpPr>
          <p:nvPr>
            <p:ph type="dt" sz="half" idx="10"/>
          </p:nvPr>
        </p:nvSpPr>
        <p:spPr/>
        <p:txBody>
          <a:bodyPr/>
          <a:lstStyle/>
          <a:p>
            <a:fld id="{1F4754EA-BEF8-1E41-B107-F1495E8B8D04}" type="datetimeFigureOut">
              <a:rPr kumimoji="1" lang="zh-CN" altLang="en-US" smtClean="0"/>
              <a:t>2026/10/20</a:t>
            </a:fld>
            <a:endParaRPr kumimoji="1" lang="zh-CN" altLang="en-US"/>
          </a:p>
        </p:txBody>
      </p:sp>
      <p:sp>
        <p:nvSpPr>
          <p:cNvPr id="6" name="页脚占位符 5">
            <a:extLst>
              <a:ext uri="{FF2B5EF4-FFF2-40B4-BE49-F238E27FC236}">
                <a16:creationId xmlns:a16="http://schemas.microsoft.com/office/drawing/2014/main" id="{5D39EFF1-0FEC-B9EC-3961-21CF83D45753}"/>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8AB7F71D-035F-16AC-C61D-D081DC8214D0}"/>
              </a:ext>
            </a:extLst>
          </p:cNvPr>
          <p:cNvSpPr>
            <a:spLocks noGrp="1"/>
          </p:cNvSpPr>
          <p:nvPr>
            <p:ph type="sldNum" sz="quarter" idx="12"/>
          </p:nvPr>
        </p:nvSpPr>
        <p:spPr/>
        <p:txBody>
          <a:body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3305441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AD1E7E-6FF4-0EBC-0E3B-8C08DEEC3E83}"/>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4A2F453-EF56-91E6-C3FD-50B0036067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1F1FAA39-6F8A-1A3B-6C37-A772DA9798B7}"/>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752E07D7-8CF3-A863-6B2D-51B174FB117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F622A677-74FC-3716-AE6B-363816A5173C}"/>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E2EEABE2-0AFB-458E-EABF-6C5F72E6FC74}"/>
              </a:ext>
            </a:extLst>
          </p:cNvPr>
          <p:cNvSpPr>
            <a:spLocks noGrp="1"/>
          </p:cNvSpPr>
          <p:nvPr>
            <p:ph type="dt" sz="half" idx="10"/>
          </p:nvPr>
        </p:nvSpPr>
        <p:spPr/>
        <p:txBody>
          <a:bodyPr/>
          <a:lstStyle/>
          <a:p>
            <a:fld id="{1F4754EA-BEF8-1E41-B107-F1495E8B8D04}" type="datetimeFigureOut">
              <a:rPr kumimoji="1" lang="zh-CN" altLang="en-US" smtClean="0"/>
              <a:t>2026/10/20</a:t>
            </a:fld>
            <a:endParaRPr kumimoji="1" lang="zh-CN" altLang="en-US"/>
          </a:p>
        </p:txBody>
      </p:sp>
      <p:sp>
        <p:nvSpPr>
          <p:cNvPr id="8" name="页脚占位符 7">
            <a:extLst>
              <a:ext uri="{FF2B5EF4-FFF2-40B4-BE49-F238E27FC236}">
                <a16:creationId xmlns:a16="http://schemas.microsoft.com/office/drawing/2014/main" id="{66815EA2-F1C7-F036-1DE1-A6B09D77AAF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27A94569-4166-A188-75AE-63976013C265}"/>
              </a:ext>
            </a:extLst>
          </p:cNvPr>
          <p:cNvSpPr>
            <a:spLocks noGrp="1"/>
          </p:cNvSpPr>
          <p:nvPr>
            <p:ph type="sldNum" sz="quarter" idx="12"/>
          </p:nvPr>
        </p:nvSpPr>
        <p:spPr/>
        <p:txBody>
          <a:body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293936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5F52F4-F453-AE37-2C28-07BD7245737A}"/>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42C1BBF8-531E-01F6-A361-35769828EA1B}"/>
              </a:ext>
            </a:extLst>
          </p:cNvPr>
          <p:cNvSpPr>
            <a:spLocks noGrp="1"/>
          </p:cNvSpPr>
          <p:nvPr>
            <p:ph type="dt" sz="half" idx="10"/>
          </p:nvPr>
        </p:nvSpPr>
        <p:spPr/>
        <p:txBody>
          <a:bodyPr/>
          <a:lstStyle/>
          <a:p>
            <a:fld id="{1F4754EA-BEF8-1E41-B107-F1495E8B8D04}" type="datetimeFigureOut">
              <a:rPr kumimoji="1" lang="zh-CN" altLang="en-US" smtClean="0"/>
              <a:t>2026/10/20</a:t>
            </a:fld>
            <a:endParaRPr kumimoji="1" lang="zh-CN" altLang="en-US"/>
          </a:p>
        </p:txBody>
      </p:sp>
      <p:sp>
        <p:nvSpPr>
          <p:cNvPr id="4" name="页脚占位符 3">
            <a:extLst>
              <a:ext uri="{FF2B5EF4-FFF2-40B4-BE49-F238E27FC236}">
                <a16:creationId xmlns:a16="http://schemas.microsoft.com/office/drawing/2014/main" id="{A15E34FF-A651-F5AA-54D6-A245FC418106}"/>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FDBC6427-2FC9-BFF7-B337-60391F5F453A}"/>
              </a:ext>
            </a:extLst>
          </p:cNvPr>
          <p:cNvSpPr>
            <a:spLocks noGrp="1"/>
          </p:cNvSpPr>
          <p:nvPr>
            <p:ph type="sldNum" sz="quarter" idx="12"/>
          </p:nvPr>
        </p:nvSpPr>
        <p:spPr/>
        <p:txBody>
          <a:body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35968309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B701480-0CC4-BDED-9F4E-96BD1D6797EF}"/>
              </a:ext>
            </a:extLst>
          </p:cNvPr>
          <p:cNvSpPr>
            <a:spLocks noGrp="1"/>
          </p:cNvSpPr>
          <p:nvPr>
            <p:ph type="dt" sz="half" idx="10"/>
          </p:nvPr>
        </p:nvSpPr>
        <p:spPr/>
        <p:txBody>
          <a:bodyPr/>
          <a:lstStyle/>
          <a:p>
            <a:fld id="{1F4754EA-BEF8-1E41-B107-F1495E8B8D04}" type="datetimeFigureOut">
              <a:rPr kumimoji="1" lang="zh-CN" altLang="en-US" smtClean="0"/>
              <a:t>2026/10/20</a:t>
            </a:fld>
            <a:endParaRPr kumimoji="1" lang="zh-CN" altLang="en-US"/>
          </a:p>
        </p:txBody>
      </p:sp>
      <p:sp>
        <p:nvSpPr>
          <p:cNvPr id="3" name="页脚占位符 2">
            <a:extLst>
              <a:ext uri="{FF2B5EF4-FFF2-40B4-BE49-F238E27FC236}">
                <a16:creationId xmlns:a16="http://schemas.microsoft.com/office/drawing/2014/main" id="{B8C42889-CFEF-238B-24FA-9DAD8827E201}"/>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9E151106-0E27-257C-60EA-D2384DADB660}"/>
              </a:ext>
            </a:extLst>
          </p:cNvPr>
          <p:cNvSpPr>
            <a:spLocks noGrp="1"/>
          </p:cNvSpPr>
          <p:nvPr>
            <p:ph type="sldNum" sz="quarter" idx="12"/>
          </p:nvPr>
        </p:nvSpPr>
        <p:spPr/>
        <p:txBody>
          <a:body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41253852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CE9459-DA4F-8BC7-96B1-94535832CE1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24EE45C8-827C-6F6D-2A7E-16BB67B470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D155A9C7-2571-B3ED-59E6-2BAFD96EF3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743F27-0B0D-CA81-ADDC-D1FDD72A166D}"/>
              </a:ext>
            </a:extLst>
          </p:cNvPr>
          <p:cNvSpPr>
            <a:spLocks noGrp="1"/>
          </p:cNvSpPr>
          <p:nvPr>
            <p:ph type="dt" sz="half" idx="10"/>
          </p:nvPr>
        </p:nvSpPr>
        <p:spPr/>
        <p:txBody>
          <a:bodyPr/>
          <a:lstStyle/>
          <a:p>
            <a:fld id="{1F4754EA-BEF8-1E41-B107-F1495E8B8D04}" type="datetimeFigureOut">
              <a:rPr kumimoji="1" lang="zh-CN" altLang="en-US" smtClean="0"/>
              <a:t>2026/10/20</a:t>
            </a:fld>
            <a:endParaRPr kumimoji="1" lang="zh-CN" altLang="en-US"/>
          </a:p>
        </p:txBody>
      </p:sp>
      <p:sp>
        <p:nvSpPr>
          <p:cNvPr id="6" name="页脚占位符 5">
            <a:extLst>
              <a:ext uri="{FF2B5EF4-FFF2-40B4-BE49-F238E27FC236}">
                <a16:creationId xmlns:a16="http://schemas.microsoft.com/office/drawing/2014/main" id="{0B9785D6-923B-8F7C-990F-9CE2E8BE40E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8C0F0590-6519-E804-8C30-A572A357393B}"/>
              </a:ext>
            </a:extLst>
          </p:cNvPr>
          <p:cNvSpPr>
            <a:spLocks noGrp="1"/>
          </p:cNvSpPr>
          <p:nvPr>
            <p:ph type="sldNum" sz="quarter" idx="12"/>
          </p:nvPr>
        </p:nvSpPr>
        <p:spPr/>
        <p:txBody>
          <a:body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34302979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B0F18E-A308-AE67-01E4-5E9F0303311E}"/>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FDFF453-4096-2B92-6E78-AEB520441B8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B0BC4E54-1300-7F83-5169-659542CC3E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46ADAA86-C03F-2302-8D4C-9BFA8AAD6A95}"/>
              </a:ext>
            </a:extLst>
          </p:cNvPr>
          <p:cNvSpPr>
            <a:spLocks noGrp="1"/>
          </p:cNvSpPr>
          <p:nvPr>
            <p:ph type="dt" sz="half" idx="10"/>
          </p:nvPr>
        </p:nvSpPr>
        <p:spPr/>
        <p:txBody>
          <a:bodyPr/>
          <a:lstStyle/>
          <a:p>
            <a:fld id="{1F4754EA-BEF8-1E41-B107-F1495E8B8D04}" type="datetimeFigureOut">
              <a:rPr kumimoji="1" lang="zh-CN" altLang="en-US" smtClean="0"/>
              <a:t>2026/10/20</a:t>
            </a:fld>
            <a:endParaRPr kumimoji="1" lang="zh-CN" altLang="en-US"/>
          </a:p>
        </p:txBody>
      </p:sp>
      <p:sp>
        <p:nvSpPr>
          <p:cNvPr id="6" name="页脚占位符 5">
            <a:extLst>
              <a:ext uri="{FF2B5EF4-FFF2-40B4-BE49-F238E27FC236}">
                <a16:creationId xmlns:a16="http://schemas.microsoft.com/office/drawing/2014/main" id="{46749BF7-1D09-A6E9-DFC8-8A498D1EB0F5}"/>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FA2042F2-77AA-EF6E-0DEB-D5CC1E1378E1}"/>
              </a:ext>
            </a:extLst>
          </p:cNvPr>
          <p:cNvSpPr>
            <a:spLocks noGrp="1"/>
          </p:cNvSpPr>
          <p:nvPr>
            <p:ph type="sldNum" sz="quarter" idx="12"/>
          </p:nvPr>
        </p:nvSpPr>
        <p:spPr/>
        <p:txBody>
          <a:body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3013578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6DA204-DB83-B7BB-CCD2-9037EBA2C281}"/>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72D8EC2-8ACF-8E94-F9B1-C33975829593}"/>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FE7233A1-A2DA-2105-5E3A-9D1CC1B40F4E}"/>
              </a:ext>
            </a:extLst>
          </p:cNvPr>
          <p:cNvSpPr>
            <a:spLocks noGrp="1"/>
          </p:cNvSpPr>
          <p:nvPr>
            <p:ph type="dt" sz="half" idx="10"/>
          </p:nvPr>
        </p:nvSpPr>
        <p:spPr/>
        <p:txBody>
          <a:bodyPr/>
          <a:lstStyle/>
          <a:p>
            <a:fld id="{1F4754EA-BEF8-1E41-B107-F1495E8B8D04}" type="datetimeFigureOut">
              <a:rPr kumimoji="1" lang="zh-CN" altLang="en-US" smtClean="0"/>
              <a:t>2026/10/20</a:t>
            </a:fld>
            <a:endParaRPr kumimoji="1" lang="zh-CN" altLang="en-US"/>
          </a:p>
        </p:txBody>
      </p:sp>
      <p:sp>
        <p:nvSpPr>
          <p:cNvPr id="5" name="页脚占位符 4">
            <a:extLst>
              <a:ext uri="{FF2B5EF4-FFF2-40B4-BE49-F238E27FC236}">
                <a16:creationId xmlns:a16="http://schemas.microsoft.com/office/drawing/2014/main" id="{B63AB956-54FF-3B78-CE1D-EC299E48E80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F8A97C32-255C-E6F5-DFF0-41EFCF97808C}"/>
              </a:ext>
            </a:extLst>
          </p:cNvPr>
          <p:cNvSpPr>
            <a:spLocks noGrp="1"/>
          </p:cNvSpPr>
          <p:nvPr>
            <p:ph type="sldNum" sz="quarter" idx="12"/>
          </p:nvPr>
        </p:nvSpPr>
        <p:spPr/>
        <p:txBody>
          <a:body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32554073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D660BB92-3795-36AC-B08F-4F485BD05E4E}"/>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6DB7CC2F-6F1B-5088-29A4-927F2745122C}"/>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1AEEB2F-7963-0782-1FDB-4931618B3B2A}"/>
              </a:ext>
            </a:extLst>
          </p:cNvPr>
          <p:cNvSpPr>
            <a:spLocks noGrp="1"/>
          </p:cNvSpPr>
          <p:nvPr>
            <p:ph type="dt" sz="half" idx="10"/>
          </p:nvPr>
        </p:nvSpPr>
        <p:spPr/>
        <p:txBody>
          <a:bodyPr/>
          <a:lstStyle/>
          <a:p>
            <a:fld id="{1F4754EA-BEF8-1E41-B107-F1495E8B8D04}" type="datetimeFigureOut">
              <a:rPr kumimoji="1" lang="zh-CN" altLang="en-US" smtClean="0"/>
              <a:t>2026/10/20</a:t>
            </a:fld>
            <a:endParaRPr kumimoji="1" lang="zh-CN" altLang="en-US"/>
          </a:p>
        </p:txBody>
      </p:sp>
      <p:sp>
        <p:nvSpPr>
          <p:cNvPr id="5" name="页脚占位符 4">
            <a:extLst>
              <a:ext uri="{FF2B5EF4-FFF2-40B4-BE49-F238E27FC236}">
                <a16:creationId xmlns:a16="http://schemas.microsoft.com/office/drawing/2014/main" id="{A2B36AF2-A3BC-F34C-D6F8-C6BDE8A10B81}"/>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5037562F-35CF-19D5-8DF2-965005528935}"/>
              </a:ext>
            </a:extLst>
          </p:cNvPr>
          <p:cNvSpPr>
            <a:spLocks noGrp="1"/>
          </p:cNvSpPr>
          <p:nvPr>
            <p:ph type="sldNum" sz="quarter" idx="12"/>
          </p:nvPr>
        </p:nvSpPr>
        <p:spPr/>
        <p:txBody>
          <a:body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1091263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F4B1918-FF1B-33C8-9956-7EA3656B5E5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CA218ED3-A85E-B0C1-128E-AFE1DE94F9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8BDE2C90-A839-2C3E-F39D-62854DE011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F4754EA-BEF8-1E41-B107-F1495E8B8D04}" type="datetimeFigureOut">
              <a:rPr kumimoji="1" lang="zh-CN" altLang="en-US" smtClean="0"/>
              <a:t>2026/10/20</a:t>
            </a:fld>
            <a:endParaRPr kumimoji="1" lang="zh-CN" altLang="en-US"/>
          </a:p>
        </p:txBody>
      </p:sp>
      <p:sp>
        <p:nvSpPr>
          <p:cNvPr id="5" name="页脚占位符 4">
            <a:extLst>
              <a:ext uri="{FF2B5EF4-FFF2-40B4-BE49-F238E27FC236}">
                <a16:creationId xmlns:a16="http://schemas.microsoft.com/office/drawing/2014/main" id="{BD979976-F604-B9A0-D708-D4B5CFEBC9C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55147EC4-4F45-A744-B6A7-6BC3FAE348A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7CDBB34-167D-5348-9CE2-1DD58122B748}" type="slidenum">
              <a:rPr kumimoji="1" lang="zh-CN" altLang="en-US" smtClean="0"/>
              <a:t>‹#›</a:t>
            </a:fld>
            <a:endParaRPr kumimoji="1" lang="zh-CN" altLang="en-US"/>
          </a:p>
        </p:txBody>
      </p:sp>
    </p:spTree>
    <p:extLst>
      <p:ext uri="{BB962C8B-B14F-4D97-AF65-F5344CB8AC3E}">
        <p14:creationId xmlns:p14="http://schemas.microsoft.com/office/powerpoint/2010/main" val="29310753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228F9888.xm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01_46086DFC.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02_D149D0CC.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microsoft.com/office/2018/10/relationships/comments" Target="../comments/modernComment_103_ACFA26DD.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microsoft.com/office/2018/10/relationships/comments" Target="../comments/modernComment_104_AB4741CD.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8/10/relationships/comments" Target="../comments/modernComment_105_D2AF9B8F.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microsoft.com/office/2018/10/relationships/comments" Target="../comments/modernComment_106_110635C0.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microsoft.com/office/2018/10/relationships/comments" Target="../comments/modernComment_107_457E1B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microsoft.com/office/2018/10/relationships/comments" Target="../comments/modernComment_108_546A4E5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49DDBDAD-988A-3BD6-9686-C290E938B239}"/>
              </a:ext>
            </a:extLst>
          </p:cNvPr>
          <p:cNvPicPr>
            <a:picLocks noChangeAspect="1"/>
          </p:cNvPicPr>
          <p:nvPr/>
        </p:nvPicPr>
        <p:blipFill>
          <a:blip r:embed="rId4"/>
          <a:stretch>
            <a:fillRect/>
          </a:stretch>
        </p:blipFill>
        <p:spPr>
          <a:xfrm>
            <a:off x="267703" y="693343"/>
            <a:ext cx="8004813" cy="4183458"/>
          </a:xfrm>
          <a:prstGeom prst="rect">
            <a:avLst/>
          </a:prstGeom>
        </p:spPr>
      </p:pic>
      <p:sp>
        <p:nvSpPr>
          <p:cNvPr id="8" name="文本框 7">
            <a:extLst>
              <a:ext uri="{FF2B5EF4-FFF2-40B4-BE49-F238E27FC236}">
                <a16:creationId xmlns:a16="http://schemas.microsoft.com/office/drawing/2014/main" id="{122149A3-4F37-9BD8-DD80-72E1154FEFEE}"/>
              </a:ext>
            </a:extLst>
          </p:cNvPr>
          <p:cNvSpPr txBox="1"/>
          <p:nvPr/>
        </p:nvSpPr>
        <p:spPr>
          <a:xfrm>
            <a:off x="668125" y="5157401"/>
            <a:ext cx="7604391" cy="830997"/>
          </a:xfrm>
          <a:prstGeom prst="rect">
            <a:avLst/>
          </a:prstGeom>
          <a:noFill/>
        </p:spPr>
        <p:txBody>
          <a:bodyPr wrap="square">
            <a:spAutoFit/>
          </a:bodyPr>
          <a:lstStyle/>
          <a:p>
            <a:r>
              <a:rPr lang="zh-CN" altLang="zh-CN" sz="1600" dirty="0">
                <a:solidFill>
                  <a:srgbClr val="1F1F1F"/>
                </a:solidFill>
                <a:latin typeface="docs-Roboto"/>
              </a:rPr>
              <a:t>BASE_DUR</a:t>
            </a:r>
            <a:r>
              <a:rPr lang="en-US" altLang="zh-CN" sz="1600" dirty="0">
                <a:solidFill>
                  <a:srgbClr val="1F1F1F"/>
                </a:solidFill>
                <a:latin typeface="docs-Roboto"/>
              </a:rPr>
              <a:t> (</a:t>
            </a:r>
            <a:r>
              <a:rPr lang="zh-CN" altLang="zh-CN" sz="1600" dirty="0">
                <a:solidFill>
                  <a:srgbClr val="1F1F1F"/>
                </a:solidFill>
                <a:latin typeface="docs-Roboto"/>
              </a:rPr>
              <a:t>median</a:t>
            </a:r>
            <a:r>
              <a:rPr lang="en-US" altLang="zh-CN" sz="1600" dirty="0">
                <a:solidFill>
                  <a:srgbClr val="1F1F1F"/>
                </a:solidFill>
                <a:latin typeface="docs-Roboto"/>
              </a:rPr>
              <a:t> of the </a:t>
            </a:r>
            <a:r>
              <a:rPr lang="zh-CN" altLang="zh-CN" sz="1600" dirty="0">
                <a:solidFill>
                  <a:srgbClr val="1F1F1F"/>
                </a:solidFill>
                <a:latin typeface="docs-Roboto"/>
              </a:rPr>
              <a:t>ST</a:t>
            </a:r>
            <a:r>
              <a:rPr lang="en-US" altLang="zh-CN" sz="1600" dirty="0">
                <a:solidFill>
                  <a:srgbClr val="1F1F1F"/>
                </a:solidFill>
                <a:latin typeface="docs-Roboto"/>
              </a:rPr>
              <a:t> </a:t>
            </a:r>
            <a:r>
              <a:rPr lang="zh-CN" altLang="zh-CN" sz="1600" dirty="0">
                <a:solidFill>
                  <a:srgbClr val="1F1F1F"/>
                </a:solidFill>
                <a:latin typeface="docs-Roboto"/>
              </a:rPr>
              <a:t>fixations durations)</a:t>
            </a:r>
            <a:r>
              <a:rPr lang="zh-CN" altLang="zh-CN" sz="1600" b="0" i="0" dirty="0">
                <a:solidFill>
                  <a:srgbClr val="1F1F1F"/>
                </a:solidFill>
                <a:effectLst/>
                <a:latin typeface="docs-Roboto"/>
              </a:rPr>
              <a:t>: 330.0; </a:t>
            </a:r>
            <a:endParaRPr lang="en-US" altLang="zh-CN" sz="1600" b="0" i="0" dirty="0">
              <a:solidFill>
                <a:srgbClr val="1F1F1F"/>
              </a:solidFill>
              <a:effectLst/>
              <a:latin typeface="docs-Roboto"/>
            </a:endParaRPr>
          </a:p>
          <a:p>
            <a:r>
              <a:rPr lang="zh-CN" altLang="zh-CN" sz="1600" b="0" i="0" dirty="0">
                <a:solidFill>
                  <a:srgbClr val="1F1F1F"/>
                </a:solidFill>
                <a:effectLst/>
                <a:latin typeface="docs-Roboto"/>
              </a:rPr>
              <a:t>BASE_WORD_JUMP</a:t>
            </a:r>
            <a:r>
              <a:rPr lang="en-US" altLang="zh-CN" sz="1600" b="0" i="0" dirty="0">
                <a:solidFill>
                  <a:srgbClr val="1F1F1F"/>
                </a:solidFill>
                <a:effectLst/>
                <a:latin typeface="docs-Roboto"/>
              </a:rPr>
              <a:t> (</a:t>
            </a:r>
            <a:r>
              <a:rPr lang="zh-CN" altLang="zh-CN" sz="1600" dirty="0">
                <a:solidFill>
                  <a:srgbClr val="1F1F1F"/>
                </a:solidFill>
                <a:latin typeface="docs-Roboto"/>
              </a:rPr>
              <a:t>median change in word-ID between two successive fixations</a:t>
            </a:r>
            <a:r>
              <a:rPr lang="zh-CN" altLang="en-US" sz="1600" dirty="0">
                <a:solidFill>
                  <a:srgbClr val="1F1F1F"/>
                </a:solidFill>
                <a:latin typeface="docs-Roboto"/>
              </a:rPr>
              <a:t> </a:t>
            </a:r>
            <a:r>
              <a:rPr lang="en-US" altLang="zh-CN" sz="1600" dirty="0">
                <a:solidFill>
                  <a:srgbClr val="1F1F1F"/>
                </a:solidFill>
                <a:latin typeface="docs-Roboto"/>
              </a:rPr>
              <a:t>in</a:t>
            </a:r>
            <a:r>
              <a:rPr lang="zh-CN" altLang="en-US" sz="1600" dirty="0">
                <a:solidFill>
                  <a:srgbClr val="1F1F1F"/>
                </a:solidFill>
                <a:latin typeface="docs-Roboto"/>
              </a:rPr>
              <a:t> </a:t>
            </a:r>
            <a:r>
              <a:rPr lang="en-US" altLang="zh-CN" sz="1600" dirty="0">
                <a:solidFill>
                  <a:srgbClr val="1F1F1F"/>
                </a:solidFill>
                <a:latin typeface="docs-Roboto"/>
              </a:rPr>
              <a:t>the ST window)</a:t>
            </a:r>
            <a:r>
              <a:rPr lang="zh-CN" altLang="zh-CN" sz="1600" dirty="0">
                <a:solidFill>
                  <a:srgbClr val="1F1F1F"/>
                </a:solidFill>
                <a:latin typeface="docs-Roboto"/>
              </a:rPr>
              <a:t>: 2.0</a:t>
            </a:r>
            <a:endParaRPr lang="zh-CN" altLang="en-US" sz="1600" dirty="0">
              <a:solidFill>
                <a:srgbClr val="1F1F1F"/>
              </a:solidFill>
              <a:latin typeface="docs-Roboto"/>
            </a:endParaRPr>
          </a:p>
        </p:txBody>
      </p:sp>
      <p:sp>
        <p:nvSpPr>
          <p:cNvPr id="9" name="文本框 8">
            <a:extLst>
              <a:ext uri="{FF2B5EF4-FFF2-40B4-BE49-F238E27FC236}">
                <a16:creationId xmlns:a16="http://schemas.microsoft.com/office/drawing/2014/main" id="{7F77DA34-10BC-84D9-18D6-47BC36AD1B77}"/>
              </a:ext>
            </a:extLst>
          </p:cNvPr>
          <p:cNvSpPr txBox="1"/>
          <p:nvPr/>
        </p:nvSpPr>
        <p:spPr>
          <a:xfrm>
            <a:off x="6777555" y="515659"/>
            <a:ext cx="3169457" cy="1200329"/>
          </a:xfrm>
          <a:prstGeom prst="rect">
            <a:avLst/>
          </a:prstGeom>
          <a:noFill/>
        </p:spPr>
        <p:txBody>
          <a:bodyPr wrap="none" rtlCol="0">
            <a:spAutoFit/>
          </a:bodyPr>
          <a:lstStyle/>
          <a:p>
            <a:r>
              <a:rPr kumimoji="1" lang="en-US" altLang="zh-CN" b="1" dirty="0"/>
              <a:t>L (linear-reading): 9 (69.23%)</a:t>
            </a:r>
          </a:p>
          <a:p>
            <a:r>
              <a:rPr kumimoji="1" lang="en-US" altLang="zh-CN" dirty="0"/>
              <a:t>S (Skimming): 3 (23.08%)</a:t>
            </a:r>
          </a:p>
          <a:p>
            <a:r>
              <a:rPr kumimoji="1" lang="en-US" altLang="zh-CN" dirty="0"/>
              <a:t>R (re-reading): 1 (7.69%)</a:t>
            </a:r>
          </a:p>
          <a:p>
            <a:r>
              <a:rPr kumimoji="1" lang="en-US" altLang="zh-CN" dirty="0"/>
              <a:t>O (others): 0</a:t>
            </a:r>
            <a:endParaRPr kumimoji="1" lang="zh-CN" altLang="en-US" dirty="0"/>
          </a:p>
        </p:txBody>
      </p:sp>
      <p:sp>
        <p:nvSpPr>
          <p:cNvPr id="10" name="文本框 9">
            <a:extLst>
              <a:ext uri="{FF2B5EF4-FFF2-40B4-BE49-F238E27FC236}">
                <a16:creationId xmlns:a16="http://schemas.microsoft.com/office/drawing/2014/main" id="{09B79F90-99BD-F15A-D357-AF039F2705F5}"/>
              </a:ext>
            </a:extLst>
          </p:cNvPr>
          <p:cNvSpPr txBox="1"/>
          <p:nvPr/>
        </p:nvSpPr>
        <p:spPr>
          <a:xfrm>
            <a:off x="8653238" y="1818026"/>
            <a:ext cx="3370117" cy="4524315"/>
          </a:xfrm>
          <a:prstGeom prst="rect">
            <a:avLst/>
          </a:prstGeom>
          <a:noFill/>
        </p:spPr>
        <p:txBody>
          <a:bodyPr wrap="square" rtlCol="0">
            <a:spAutoFit/>
          </a:bodyPr>
          <a:lstStyle/>
          <a:p>
            <a:r>
              <a:rPr kumimoji="1" lang="en-US" altLang="zh-CN" dirty="0"/>
              <a:t>Reasons:</a:t>
            </a:r>
          </a:p>
          <a:p>
            <a:endParaRPr kumimoji="1" lang="en-US" altLang="zh-CN" dirty="0"/>
          </a:p>
          <a:p>
            <a:r>
              <a:rPr kumimoji="1" lang="en-US" altLang="zh-CN" dirty="0"/>
              <a:t>L: </a:t>
            </a:r>
          </a:p>
          <a:p>
            <a:pPr marL="285750" indent="-285750">
              <a:buFont typeface="Arial" panose="020B0604020202020204" pitchFamily="34" charset="0"/>
              <a:buChar char="•"/>
            </a:pPr>
            <a:r>
              <a:rPr kumimoji="1" lang="en-US" altLang="zh-CN" dirty="0"/>
              <a:t>“forward, left-to-right”</a:t>
            </a:r>
          </a:p>
          <a:p>
            <a:pPr marL="285750" indent="-285750">
              <a:buFont typeface="Arial" panose="020B0604020202020204" pitchFamily="34" charset="0"/>
              <a:buChar char="•"/>
            </a:pPr>
            <a:r>
              <a:rPr kumimoji="1" lang="en-US" altLang="zh-CN" dirty="0"/>
              <a:t>“sequential, progressive”</a:t>
            </a:r>
          </a:p>
          <a:p>
            <a:pPr marL="285750" indent="-285750">
              <a:buFont typeface="Arial" panose="020B0604020202020204" pitchFamily="34" charset="0"/>
              <a:buChar char="•"/>
            </a:pPr>
            <a:r>
              <a:rPr kumimoji="1" lang="en-US" altLang="zh-CN" dirty="0"/>
              <a:t>“No obvious jumps, no regressions”</a:t>
            </a:r>
          </a:p>
          <a:p>
            <a:pPr marL="285750" indent="-285750">
              <a:buFont typeface="Arial" panose="020B0604020202020204" pitchFamily="34" charset="0"/>
              <a:buChar char="•"/>
            </a:pPr>
            <a:r>
              <a:rPr lang="en-US" altLang="zh-CN" dirty="0"/>
              <a:t>“</a:t>
            </a:r>
            <a:r>
              <a:rPr lang="zh-CN" altLang="zh-CN" dirty="0"/>
              <a:t>short sequential saccades</a:t>
            </a:r>
            <a:r>
              <a:rPr lang="en-US" altLang="zh-CN" dirty="0"/>
              <a:t>”</a:t>
            </a:r>
            <a:endParaRPr kumimoji="1" lang="en-US" altLang="zh-CN" dirty="0"/>
          </a:p>
          <a:p>
            <a:endParaRPr kumimoji="1" lang="en-US" altLang="zh-CN" dirty="0"/>
          </a:p>
          <a:p>
            <a:r>
              <a:rPr kumimoji="1" lang="en-US" altLang="zh-CN" dirty="0"/>
              <a:t>S:</a:t>
            </a:r>
          </a:p>
          <a:p>
            <a:pPr marL="285750" indent="-285750">
              <a:buFont typeface="Arial" panose="020B0604020202020204" pitchFamily="34" charset="0"/>
              <a:buChar char="•"/>
            </a:pPr>
            <a:r>
              <a:rPr lang="en-US" altLang="zh-CN" dirty="0"/>
              <a:t>“</a:t>
            </a:r>
            <a:r>
              <a:rPr lang="zh-CN" altLang="zh-CN" dirty="0">
                <a:solidFill>
                  <a:srgbClr val="FF0000"/>
                </a:solidFill>
              </a:rPr>
              <a:t>relatively fast</a:t>
            </a:r>
            <a:r>
              <a:rPr lang="en-US" altLang="zh-CN" dirty="0"/>
              <a:t>” </a:t>
            </a:r>
          </a:p>
          <a:p>
            <a:pPr marL="285750" indent="-285750">
              <a:buFont typeface="Arial" panose="020B0604020202020204" pitchFamily="34" charset="0"/>
              <a:buChar char="•"/>
            </a:pPr>
            <a:r>
              <a:rPr lang="en-US" altLang="zh-CN" dirty="0"/>
              <a:t>“</a:t>
            </a:r>
            <a:r>
              <a:rPr lang="zh-CN" altLang="zh-CN" dirty="0"/>
              <a:t>consistent fd</a:t>
            </a:r>
            <a:r>
              <a:rPr lang="en-US" altLang="zh-CN" dirty="0"/>
              <a:t>”</a:t>
            </a:r>
          </a:p>
          <a:p>
            <a:pPr marL="285750" indent="-285750">
              <a:buFont typeface="Arial" panose="020B0604020202020204" pitchFamily="34" charset="0"/>
              <a:buChar char="•"/>
            </a:pPr>
            <a:endParaRPr kumimoji="1" lang="en-US" altLang="zh-CN" dirty="0"/>
          </a:p>
          <a:p>
            <a:r>
              <a:rPr kumimoji="1" lang="en-US" altLang="zh-CN" dirty="0"/>
              <a:t>R:</a:t>
            </a:r>
          </a:p>
          <a:p>
            <a:pPr marL="285750" indent="-285750">
              <a:buFont typeface="Arial" panose="020B0604020202020204" pitchFamily="34" charset="0"/>
              <a:buChar char="•"/>
            </a:pPr>
            <a:r>
              <a:rPr kumimoji="1" lang="en-US" altLang="zh-CN" dirty="0"/>
              <a:t>“</a:t>
            </a:r>
            <a:r>
              <a:rPr kumimoji="1" lang="en-US" altLang="zh-CN" dirty="0">
                <a:solidFill>
                  <a:srgbClr val="FF0000"/>
                </a:solidFill>
              </a:rPr>
              <a:t>back and forth</a:t>
            </a:r>
            <a:r>
              <a:rPr kumimoji="1" lang="en-US" altLang="zh-CN" dirty="0"/>
              <a:t>” </a:t>
            </a:r>
          </a:p>
          <a:p>
            <a:endParaRPr kumimoji="1" lang="zh-CN" altLang="en-US" dirty="0"/>
          </a:p>
        </p:txBody>
      </p:sp>
    </p:spTree>
    <p:extLst>
      <p:ext uri="{BB962C8B-B14F-4D97-AF65-F5344CB8AC3E}">
        <p14:creationId xmlns:p14="http://schemas.microsoft.com/office/powerpoint/2010/main" val="579836040"/>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64613-024F-6AC1-B1E1-9765E508EF6B}"/>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A62DC28F-EC8A-C6BA-9B7D-A0B98AEE9266}"/>
              </a:ext>
            </a:extLst>
          </p:cNvPr>
          <p:cNvSpPr txBox="1"/>
          <p:nvPr/>
        </p:nvSpPr>
        <p:spPr>
          <a:xfrm>
            <a:off x="579225" y="4738301"/>
            <a:ext cx="7604391" cy="830997"/>
          </a:xfrm>
          <a:prstGeom prst="rect">
            <a:avLst/>
          </a:prstGeom>
          <a:noFill/>
        </p:spPr>
        <p:txBody>
          <a:bodyPr wrap="square">
            <a:spAutoFit/>
          </a:bodyPr>
          <a:lstStyle/>
          <a:p>
            <a:r>
              <a:rPr lang="zh-CN" altLang="zh-CN" sz="1600" dirty="0">
                <a:solidFill>
                  <a:srgbClr val="1F1F1F"/>
                </a:solidFill>
                <a:latin typeface="docs-Roboto"/>
              </a:rPr>
              <a:t>BASE_DUR</a:t>
            </a:r>
            <a:r>
              <a:rPr lang="en-US" altLang="zh-CN" sz="1600" dirty="0">
                <a:solidFill>
                  <a:srgbClr val="1F1F1F"/>
                </a:solidFill>
                <a:latin typeface="docs-Roboto"/>
              </a:rPr>
              <a:t> (</a:t>
            </a:r>
            <a:r>
              <a:rPr lang="zh-CN" altLang="zh-CN" sz="1600" dirty="0">
                <a:solidFill>
                  <a:srgbClr val="1F1F1F"/>
                </a:solidFill>
                <a:latin typeface="docs-Roboto"/>
              </a:rPr>
              <a:t>median</a:t>
            </a:r>
            <a:r>
              <a:rPr lang="en-US" altLang="zh-CN" sz="1600" dirty="0">
                <a:solidFill>
                  <a:srgbClr val="1F1F1F"/>
                </a:solidFill>
                <a:latin typeface="docs-Roboto"/>
              </a:rPr>
              <a:t> of the </a:t>
            </a:r>
            <a:r>
              <a:rPr lang="zh-CN" altLang="zh-CN" sz="1600" dirty="0">
                <a:solidFill>
                  <a:srgbClr val="1F1F1F"/>
                </a:solidFill>
                <a:latin typeface="docs-Roboto"/>
              </a:rPr>
              <a:t>ST</a:t>
            </a:r>
            <a:r>
              <a:rPr lang="en-US" altLang="zh-CN" sz="1600" dirty="0">
                <a:solidFill>
                  <a:srgbClr val="1F1F1F"/>
                </a:solidFill>
                <a:latin typeface="docs-Roboto"/>
              </a:rPr>
              <a:t> </a:t>
            </a:r>
            <a:r>
              <a:rPr lang="zh-CN" altLang="zh-CN" sz="1600" dirty="0">
                <a:solidFill>
                  <a:srgbClr val="1F1F1F"/>
                </a:solidFill>
                <a:latin typeface="docs-Roboto"/>
              </a:rPr>
              <a:t>fixations durations)</a:t>
            </a:r>
            <a:r>
              <a:rPr lang="zh-CN" altLang="zh-CN" sz="1600" b="0" i="0" dirty="0">
                <a:solidFill>
                  <a:srgbClr val="1F1F1F"/>
                </a:solidFill>
                <a:effectLst/>
                <a:latin typeface="docs-Roboto"/>
              </a:rPr>
              <a:t>: </a:t>
            </a:r>
            <a:r>
              <a:rPr lang="en-US" altLang="zh-CN" sz="1600" dirty="0">
                <a:solidFill>
                  <a:srgbClr val="1F1F1F"/>
                </a:solidFill>
                <a:latin typeface="docs-Roboto"/>
              </a:rPr>
              <a:t>263</a:t>
            </a:r>
            <a:r>
              <a:rPr lang="zh-CN" altLang="zh-CN" sz="1600" b="0" i="0" dirty="0">
                <a:solidFill>
                  <a:srgbClr val="1F1F1F"/>
                </a:solidFill>
                <a:effectLst/>
                <a:latin typeface="docs-Roboto"/>
              </a:rPr>
              <a:t>.0; </a:t>
            </a:r>
            <a:endParaRPr lang="en-US" altLang="zh-CN" sz="1600" b="0" i="0" dirty="0">
              <a:solidFill>
                <a:srgbClr val="1F1F1F"/>
              </a:solidFill>
              <a:effectLst/>
              <a:latin typeface="docs-Roboto"/>
            </a:endParaRPr>
          </a:p>
          <a:p>
            <a:r>
              <a:rPr lang="zh-CN" altLang="zh-CN" sz="1600" b="0" i="0" dirty="0">
                <a:solidFill>
                  <a:srgbClr val="1F1F1F"/>
                </a:solidFill>
                <a:effectLst/>
                <a:latin typeface="docs-Roboto"/>
              </a:rPr>
              <a:t>BASE_WORD_JUMP</a:t>
            </a:r>
            <a:r>
              <a:rPr lang="en-US" altLang="zh-CN" sz="1600" b="0" i="0" dirty="0">
                <a:solidFill>
                  <a:srgbClr val="1F1F1F"/>
                </a:solidFill>
                <a:effectLst/>
                <a:latin typeface="docs-Roboto"/>
              </a:rPr>
              <a:t> (</a:t>
            </a:r>
            <a:r>
              <a:rPr lang="zh-CN" altLang="zh-CN" sz="1600" dirty="0">
                <a:solidFill>
                  <a:srgbClr val="1F1F1F"/>
                </a:solidFill>
                <a:latin typeface="docs-Roboto"/>
              </a:rPr>
              <a:t>median change in word-ID between two successive fixations</a:t>
            </a:r>
            <a:r>
              <a:rPr lang="en-US" altLang="zh-CN" sz="1600" dirty="0">
                <a:solidFill>
                  <a:srgbClr val="1F1F1F"/>
                </a:solidFill>
                <a:latin typeface="docs-Roboto"/>
              </a:rPr>
              <a:t> in the ST window)</a:t>
            </a:r>
            <a:r>
              <a:rPr lang="zh-CN" altLang="zh-CN" sz="1600" dirty="0">
                <a:solidFill>
                  <a:srgbClr val="1F1F1F"/>
                </a:solidFill>
                <a:latin typeface="docs-Roboto"/>
              </a:rPr>
              <a:t>: </a:t>
            </a:r>
            <a:r>
              <a:rPr lang="en-US" altLang="zh-CN" sz="1600" dirty="0">
                <a:solidFill>
                  <a:srgbClr val="1F1F1F"/>
                </a:solidFill>
                <a:latin typeface="docs-Roboto"/>
              </a:rPr>
              <a:t>7.5</a:t>
            </a:r>
            <a:endParaRPr lang="zh-CN" altLang="en-US" sz="1600" dirty="0">
              <a:solidFill>
                <a:srgbClr val="1F1F1F"/>
              </a:solidFill>
              <a:latin typeface="docs-Roboto"/>
            </a:endParaRPr>
          </a:p>
        </p:txBody>
      </p:sp>
      <p:sp>
        <p:nvSpPr>
          <p:cNvPr id="9" name="文本框 8">
            <a:extLst>
              <a:ext uri="{FF2B5EF4-FFF2-40B4-BE49-F238E27FC236}">
                <a16:creationId xmlns:a16="http://schemas.microsoft.com/office/drawing/2014/main" id="{61D9CC4E-4DB3-A276-8FA2-9D9C8CD88318}"/>
              </a:ext>
            </a:extLst>
          </p:cNvPr>
          <p:cNvSpPr txBox="1"/>
          <p:nvPr/>
        </p:nvSpPr>
        <p:spPr>
          <a:xfrm>
            <a:off x="8467608" y="302505"/>
            <a:ext cx="3169457" cy="1200329"/>
          </a:xfrm>
          <a:prstGeom prst="rect">
            <a:avLst/>
          </a:prstGeom>
          <a:noFill/>
        </p:spPr>
        <p:txBody>
          <a:bodyPr wrap="none" rtlCol="0">
            <a:spAutoFit/>
          </a:bodyPr>
          <a:lstStyle/>
          <a:p>
            <a:r>
              <a:rPr kumimoji="1" lang="en-US" altLang="zh-CN" b="1" dirty="0"/>
              <a:t>L (linear-reading): 7 (53.85%)</a:t>
            </a:r>
          </a:p>
          <a:p>
            <a:r>
              <a:rPr kumimoji="1" lang="en-US" altLang="zh-CN" dirty="0"/>
              <a:t>R (re-reading): 3 (23.08%)</a:t>
            </a:r>
          </a:p>
          <a:p>
            <a:r>
              <a:rPr kumimoji="1" lang="en-US" altLang="zh-CN" dirty="0"/>
              <a:t>O (others): 2 (15.38%)</a:t>
            </a:r>
          </a:p>
          <a:p>
            <a:r>
              <a:rPr kumimoji="1" lang="en-US" altLang="zh-CN" dirty="0"/>
              <a:t>S (Skimming): 1 (7.69%)</a:t>
            </a:r>
          </a:p>
        </p:txBody>
      </p:sp>
      <p:sp>
        <p:nvSpPr>
          <p:cNvPr id="10" name="文本框 9">
            <a:extLst>
              <a:ext uri="{FF2B5EF4-FFF2-40B4-BE49-F238E27FC236}">
                <a16:creationId xmlns:a16="http://schemas.microsoft.com/office/drawing/2014/main" id="{C3029A97-CF7D-BE2C-9ABF-0F6E7495E95B}"/>
              </a:ext>
            </a:extLst>
          </p:cNvPr>
          <p:cNvSpPr txBox="1"/>
          <p:nvPr/>
        </p:nvSpPr>
        <p:spPr>
          <a:xfrm>
            <a:off x="8081318" y="1589332"/>
            <a:ext cx="4110681" cy="5632311"/>
          </a:xfrm>
          <a:prstGeom prst="rect">
            <a:avLst/>
          </a:prstGeom>
          <a:noFill/>
        </p:spPr>
        <p:txBody>
          <a:bodyPr wrap="square" rtlCol="0">
            <a:spAutoFit/>
          </a:bodyPr>
          <a:lstStyle/>
          <a:p>
            <a:r>
              <a:rPr kumimoji="1" lang="en-US" altLang="zh-CN" dirty="0"/>
              <a:t>Reasons:</a:t>
            </a:r>
          </a:p>
          <a:p>
            <a:r>
              <a:rPr kumimoji="1" lang="en-US" altLang="zh-CN" dirty="0"/>
              <a:t>L: </a:t>
            </a:r>
          </a:p>
          <a:p>
            <a:pPr marL="285750" indent="-285750">
              <a:buFont typeface="Arial" panose="020B0604020202020204" pitchFamily="34" charset="0"/>
              <a:buChar char="•"/>
            </a:pPr>
            <a:r>
              <a:rPr kumimoji="1" lang="en-US" altLang="zh-CN" dirty="0"/>
              <a:t>“forward; </a:t>
            </a:r>
            <a:r>
              <a:rPr lang="zh-CN" altLang="zh-CN" dirty="0"/>
              <a:t>from the previous word to the next one</a:t>
            </a:r>
            <a:r>
              <a:rPr lang="en-US" altLang="zh-CN" dirty="0"/>
              <a:t>;</a:t>
            </a:r>
            <a:r>
              <a:rPr kumimoji="1" lang="en-US" altLang="zh-CN" dirty="0"/>
              <a:t>”</a:t>
            </a:r>
          </a:p>
          <a:p>
            <a:pPr marL="285750" indent="-285750">
              <a:buFont typeface="Arial" panose="020B0604020202020204" pitchFamily="34" charset="0"/>
              <a:buChar char="•"/>
            </a:pPr>
            <a:r>
              <a:rPr kumimoji="1" lang="en-US" altLang="zh-CN" dirty="0"/>
              <a:t>“</a:t>
            </a:r>
            <a:r>
              <a:rPr lang="zh-CN" altLang="zh-CN" dirty="0"/>
              <a:t>no obvious backward regression or large skips</a:t>
            </a:r>
            <a:r>
              <a:rPr kumimoji="1" lang="en-US" altLang="zh-CN" dirty="0"/>
              <a:t>”</a:t>
            </a:r>
          </a:p>
          <a:p>
            <a:pPr marL="285750" indent="-285750">
              <a:buFont typeface="Arial" panose="020B0604020202020204" pitchFamily="34" charset="0"/>
              <a:buChar char="•"/>
            </a:pPr>
            <a:r>
              <a:rPr lang="en-US" altLang="zh-CN" dirty="0"/>
              <a:t>“</a:t>
            </a:r>
            <a:r>
              <a:rPr lang="zh-CN" altLang="zh-CN" dirty="0">
                <a:solidFill>
                  <a:srgbClr val="FF0000"/>
                </a:solidFill>
              </a:rPr>
              <a:t>it’s a long fixation</a:t>
            </a:r>
            <a:r>
              <a:rPr lang="en-US" altLang="zh-CN" dirty="0"/>
              <a:t>”</a:t>
            </a:r>
            <a:endParaRPr kumimoji="1" lang="en-US" altLang="zh-CN" dirty="0"/>
          </a:p>
          <a:p>
            <a:endParaRPr kumimoji="1" lang="en-US" altLang="zh-CN" dirty="0"/>
          </a:p>
          <a:p>
            <a:r>
              <a:rPr kumimoji="1" lang="en-US" altLang="zh-CN" dirty="0"/>
              <a:t>R:</a:t>
            </a:r>
          </a:p>
          <a:p>
            <a:pPr marL="285750" indent="-285750">
              <a:buFont typeface="Arial" panose="020B0604020202020204" pitchFamily="34" charset="0"/>
              <a:buChar char="•"/>
            </a:pPr>
            <a:r>
              <a:rPr kumimoji="1" lang="en-US" altLang="zh-CN" dirty="0"/>
              <a:t>“retention”</a:t>
            </a:r>
          </a:p>
          <a:p>
            <a:pPr marL="285750" indent="-285750">
              <a:buFont typeface="Arial" panose="020B0604020202020204" pitchFamily="34" charset="0"/>
              <a:buChar char="•"/>
            </a:pPr>
            <a:r>
              <a:rPr kumimoji="1" lang="en-US" altLang="zh-CN" dirty="0"/>
              <a:t>“stuck on one section” </a:t>
            </a:r>
          </a:p>
          <a:p>
            <a:pPr marL="285750" indent="-285750">
              <a:buFont typeface="Arial" panose="020B0604020202020204" pitchFamily="34" charset="0"/>
              <a:buChar char="•"/>
            </a:pPr>
            <a:endParaRPr kumimoji="1" lang="en-US" altLang="zh-CN" dirty="0"/>
          </a:p>
          <a:p>
            <a:r>
              <a:rPr kumimoji="1" lang="en-US" altLang="zh-CN" dirty="0"/>
              <a:t>O:</a:t>
            </a:r>
          </a:p>
          <a:p>
            <a:pPr marL="285750" indent="-285750">
              <a:buFont typeface="Arial" panose="020B0604020202020204" pitchFamily="34" charset="0"/>
              <a:buChar char="•"/>
            </a:pPr>
            <a:r>
              <a:rPr kumimoji="1" lang="en-US" altLang="zh-CN" dirty="0"/>
              <a:t>”</a:t>
            </a:r>
            <a:r>
              <a:rPr lang="zh-CN" altLang="zh-CN" dirty="0"/>
              <a:t> seems linear and then jumps back</a:t>
            </a:r>
            <a:r>
              <a:rPr lang="en-US" altLang="zh-CN" dirty="0"/>
              <a:t>”</a:t>
            </a:r>
            <a:endParaRPr kumimoji="1" lang="en-US" altLang="zh-CN" dirty="0"/>
          </a:p>
          <a:p>
            <a:endParaRPr kumimoji="1" lang="en-US" altLang="zh-CN" dirty="0"/>
          </a:p>
          <a:p>
            <a:r>
              <a:rPr kumimoji="1" lang="en-US" altLang="zh-CN" dirty="0"/>
              <a:t>S:</a:t>
            </a:r>
          </a:p>
          <a:p>
            <a:pPr marL="285750" indent="-285750">
              <a:buFont typeface="Arial" panose="020B0604020202020204" pitchFamily="34" charset="0"/>
              <a:buChar char="•"/>
            </a:pPr>
            <a:r>
              <a:rPr lang="en-US" altLang="zh-CN" dirty="0"/>
              <a:t>“</a:t>
            </a:r>
            <a:r>
              <a:rPr lang="zh-CN" altLang="zh-CN" dirty="0">
                <a:solidFill>
                  <a:srgbClr val="FF0000"/>
                </a:solidFill>
              </a:rPr>
              <a:t>long forward saccades</a:t>
            </a:r>
            <a:r>
              <a:rPr lang="en-US" altLang="zh-CN" dirty="0"/>
              <a:t>” </a:t>
            </a:r>
          </a:p>
          <a:p>
            <a:pPr marL="285750" indent="-285750">
              <a:buFont typeface="Arial" panose="020B0604020202020204" pitchFamily="34" charset="0"/>
              <a:buChar char="•"/>
            </a:pPr>
            <a:r>
              <a:rPr lang="en-US" altLang="zh-CN" dirty="0"/>
              <a:t>“</a:t>
            </a:r>
            <a:r>
              <a:rPr lang="zh-CN" altLang="zh-CN" dirty="0"/>
              <a:t>no regressions</a:t>
            </a:r>
            <a:r>
              <a:rPr lang="en-US" altLang="zh-CN" dirty="0"/>
              <a:t>”</a:t>
            </a:r>
          </a:p>
          <a:p>
            <a:pPr marL="285750" indent="-285750">
              <a:buFont typeface="Arial" panose="020B0604020202020204" pitchFamily="34" charset="0"/>
              <a:buChar char="•"/>
            </a:pPr>
            <a:endParaRPr kumimoji="1" lang="en-US" altLang="zh-CN" dirty="0"/>
          </a:p>
          <a:p>
            <a:endParaRPr kumimoji="1" lang="zh-CN" altLang="en-US" dirty="0"/>
          </a:p>
        </p:txBody>
      </p:sp>
      <p:pic>
        <p:nvPicPr>
          <p:cNvPr id="3" name="图片 2">
            <a:extLst>
              <a:ext uri="{FF2B5EF4-FFF2-40B4-BE49-F238E27FC236}">
                <a16:creationId xmlns:a16="http://schemas.microsoft.com/office/drawing/2014/main" id="{D0A9D597-4D6B-7DC5-6367-8A9F96ED1954}"/>
              </a:ext>
            </a:extLst>
          </p:cNvPr>
          <p:cNvPicPr>
            <a:picLocks noChangeAspect="1"/>
          </p:cNvPicPr>
          <p:nvPr/>
        </p:nvPicPr>
        <p:blipFill>
          <a:blip r:embed="rId3"/>
          <a:stretch>
            <a:fillRect/>
          </a:stretch>
        </p:blipFill>
        <p:spPr>
          <a:xfrm>
            <a:off x="168645" y="401359"/>
            <a:ext cx="7772400" cy="3825635"/>
          </a:xfrm>
          <a:prstGeom prst="rect">
            <a:avLst/>
          </a:prstGeom>
        </p:spPr>
      </p:pic>
      <p:sp>
        <p:nvSpPr>
          <p:cNvPr id="4" name="矩形 3">
            <a:extLst>
              <a:ext uri="{FF2B5EF4-FFF2-40B4-BE49-F238E27FC236}">
                <a16:creationId xmlns:a16="http://schemas.microsoft.com/office/drawing/2014/main" id="{4E000610-8FF5-3A70-947C-4C1205113BD7}"/>
              </a:ext>
            </a:extLst>
          </p:cNvPr>
          <p:cNvSpPr/>
          <p:nvPr/>
        </p:nvSpPr>
        <p:spPr>
          <a:xfrm>
            <a:off x="5448300" y="2679700"/>
            <a:ext cx="330200" cy="154729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zh-CN" altLang="en-US"/>
          </a:p>
        </p:txBody>
      </p:sp>
    </p:spTree>
    <p:extLst>
      <p:ext uri="{BB962C8B-B14F-4D97-AF65-F5344CB8AC3E}">
        <p14:creationId xmlns:p14="http://schemas.microsoft.com/office/powerpoint/2010/main" val="1174957564"/>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E3237-6C80-F557-42E8-2A45EE9431D3}"/>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4214D468-703E-3B15-0F70-1C81A84C77A7}"/>
              </a:ext>
            </a:extLst>
          </p:cNvPr>
          <p:cNvSpPr txBox="1"/>
          <p:nvPr/>
        </p:nvSpPr>
        <p:spPr>
          <a:xfrm>
            <a:off x="476927" y="4194604"/>
            <a:ext cx="7604391" cy="830997"/>
          </a:xfrm>
          <a:prstGeom prst="rect">
            <a:avLst/>
          </a:prstGeom>
          <a:noFill/>
        </p:spPr>
        <p:txBody>
          <a:bodyPr wrap="square">
            <a:spAutoFit/>
          </a:bodyPr>
          <a:lstStyle/>
          <a:p>
            <a:r>
              <a:rPr lang="zh-CN" altLang="zh-CN" sz="1600" dirty="0">
                <a:solidFill>
                  <a:srgbClr val="1F1F1F"/>
                </a:solidFill>
                <a:latin typeface="docs-Roboto"/>
              </a:rPr>
              <a:t>BASE_DUR</a:t>
            </a:r>
            <a:r>
              <a:rPr lang="en-US" altLang="zh-CN" sz="1600" dirty="0">
                <a:solidFill>
                  <a:srgbClr val="1F1F1F"/>
                </a:solidFill>
                <a:latin typeface="docs-Roboto"/>
              </a:rPr>
              <a:t> (</a:t>
            </a:r>
            <a:r>
              <a:rPr lang="zh-CN" altLang="zh-CN" sz="1600" dirty="0">
                <a:solidFill>
                  <a:srgbClr val="1F1F1F"/>
                </a:solidFill>
                <a:latin typeface="docs-Roboto"/>
              </a:rPr>
              <a:t>median</a:t>
            </a:r>
            <a:r>
              <a:rPr lang="en-US" altLang="zh-CN" sz="1600" dirty="0">
                <a:solidFill>
                  <a:srgbClr val="1F1F1F"/>
                </a:solidFill>
                <a:latin typeface="docs-Roboto"/>
              </a:rPr>
              <a:t> of the </a:t>
            </a:r>
            <a:r>
              <a:rPr lang="zh-CN" altLang="zh-CN" sz="1600" dirty="0">
                <a:solidFill>
                  <a:srgbClr val="1F1F1F"/>
                </a:solidFill>
                <a:latin typeface="docs-Roboto"/>
              </a:rPr>
              <a:t>ST</a:t>
            </a:r>
            <a:r>
              <a:rPr lang="en-US" altLang="zh-CN" sz="1600" dirty="0">
                <a:solidFill>
                  <a:srgbClr val="1F1F1F"/>
                </a:solidFill>
                <a:latin typeface="docs-Roboto"/>
              </a:rPr>
              <a:t> </a:t>
            </a:r>
            <a:r>
              <a:rPr lang="zh-CN" altLang="zh-CN" sz="1600" dirty="0">
                <a:solidFill>
                  <a:srgbClr val="1F1F1F"/>
                </a:solidFill>
                <a:latin typeface="docs-Roboto"/>
              </a:rPr>
              <a:t>fixations durations)</a:t>
            </a:r>
            <a:r>
              <a:rPr lang="zh-CN" altLang="zh-CN" sz="1600" b="0" i="0" dirty="0">
                <a:solidFill>
                  <a:srgbClr val="1F1F1F"/>
                </a:solidFill>
                <a:effectLst/>
                <a:latin typeface="docs-Roboto"/>
              </a:rPr>
              <a:t>: </a:t>
            </a:r>
            <a:r>
              <a:rPr lang="en-US" altLang="zh-CN" sz="1600" dirty="0">
                <a:solidFill>
                  <a:srgbClr val="1F1F1F"/>
                </a:solidFill>
                <a:latin typeface="docs-Roboto"/>
              </a:rPr>
              <a:t>263</a:t>
            </a:r>
            <a:r>
              <a:rPr lang="zh-CN" altLang="zh-CN" sz="1600" b="0" i="0" dirty="0">
                <a:solidFill>
                  <a:srgbClr val="1F1F1F"/>
                </a:solidFill>
                <a:effectLst/>
                <a:latin typeface="docs-Roboto"/>
              </a:rPr>
              <a:t>.0; </a:t>
            </a:r>
            <a:endParaRPr lang="en-US" altLang="zh-CN" sz="1600" b="0" i="0" dirty="0">
              <a:solidFill>
                <a:srgbClr val="1F1F1F"/>
              </a:solidFill>
              <a:effectLst/>
              <a:latin typeface="docs-Roboto"/>
            </a:endParaRPr>
          </a:p>
          <a:p>
            <a:r>
              <a:rPr lang="zh-CN" altLang="zh-CN" sz="1600" b="0" i="0" dirty="0">
                <a:solidFill>
                  <a:srgbClr val="1F1F1F"/>
                </a:solidFill>
                <a:effectLst/>
                <a:latin typeface="docs-Roboto"/>
              </a:rPr>
              <a:t>BASE_WORD_JUMP</a:t>
            </a:r>
            <a:r>
              <a:rPr lang="en-US" altLang="zh-CN" sz="1600" b="0" i="0" dirty="0">
                <a:solidFill>
                  <a:srgbClr val="1F1F1F"/>
                </a:solidFill>
                <a:effectLst/>
                <a:latin typeface="docs-Roboto"/>
              </a:rPr>
              <a:t> (</a:t>
            </a:r>
            <a:r>
              <a:rPr lang="zh-CN" altLang="zh-CN" sz="1600" dirty="0">
                <a:solidFill>
                  <a:srgbClr val="1F1F1F"/>
                </a:solidFill>
                <a:latin typeface="docs-Roboto"/>
              </a:rPr>
              <a:t>median change in word-ID between two successive fixations</a:t>
            </a:r>
            <a:r>
              <a:rPr lang="en-US" altLang="zh-CN" sz="1600" dirty="0">
                <a:solidFill>
                  <a:srgbClr val="1F1F1F"/>
                </a:solidFill>
                <a:latin typeface="docs-Roboto"/>
              </a:rPr>
              <a:t> in the ST window)</a:t>
            </a:r>
            <a:r>
              <a:rPr lang="zh-CN" altLang="zh-CN" sz="1600" dirty="0">
                <a:solidFill>
                  <a:srgbClr val="1F1F1F"/>
                </a:solidFill>
                <a:latin typeface="docs-Roboto"/>
              </a:rPr>
              <a:t>: </a:t>
            </a:r>
            <a:r>
              <a:rPr lang="en-US" altLang="zh-CN" sz="1600" dirty="0">
                <a:solidFill>
                  <a:srgbClr val="1F1F1F"/>
                </a:solidFill>
                <a:latin typeface="docs-Roboto"/>
              </a:rPr>
              <a:t>7.5</a:t>
            </a:r>
            <a:endParaRPr lang="zh-CN" altLang="en-US" sz="1600" dirty="0">
              <a:solidFill>
                <a:srgbClr val="1F1F1F"/>
              </a:solidFill>
              <a:latin typeface="docs-Roboto"/>
            </a:endParaRPr>
          </a:p>
        </p:txBody>
      </p:sp>
      <p:sp>
        <p:nvSpPr>
          <p:cNvPr id="9" name="文本框 8">
            <a:extLst>
              <a:ext uri="{FF2B5EF4-FFF2-40B4-BE49-F238E27FC236}">
                <a16:creationId xmlns:a16="http://schemas.microsoft.com/office/drawing/2014/main" id="{432C7476-916B-9F3B-0AED-81581BCF6D81}"/>
              </a:ext>
            </a:extLst>
          </p:cNvPr>
          <p:cNvSpPr txBox="1"/>
          <p:nvPr/>
        </p:nvSpPr>
        <p:spPr>
          <a:xfrm>
            <a:off x="8467608" y="302505"/>
            <a:ext cx="2989921" cy="1200329"/>
          </a:xfrm>
          <a:prstGeom prst="rect">
            <a:avLst/>
          </a:prstGeom>
          <a:noFill/>
        </p:spPr>
        <p:txBody>
          <a:bodyPr wrap="none" rtlCol="0">
            <a:spAutoFit/>
          </a:bodyPr>
          <a:lstStyle/>
          <a:p>
            <a:r>
              <a:rPr kumimoji="1" lang="en-US" altLang="zh-CN" b="1" dirty="0"/>
              <a:t>R (re-reading): 8 (61.54%)</a:t>
            </a:r>
          </a:p>
          <a:p>
            <a:r>
              <a:rPr kumimoji="1" lang="en-US" altLang="zh-CN" dirty="0"/>
              <a:t>S (Skimming): 3 (23.08%)</a:t>
            </a:r>
          </a:p>
          <a:p>
            <a:r>
              <a:rPr kumimoji="1" lang="en-US" altLang="zh-CN" dirty="0"/>
              <a:t>L (linear-reading): 1 (15.38%)</a:t>
            </a:r>
          </a:p>
          <a:p>
            <a:r>
              <a:rPr kumimoji="1" lang="en-US" altLang="zh-CN" dirty="0"/>
              <a:t>O (others): 1 (15.38%)</a:t>
            </a:r>
          </a:p>
        </p:txBody>
      </p:sp>
      <p:pic>
        <p:nvPicPr>
          <p:cNvPr id="5" name="图片 4">
            <a:extLst>
              <a:ext uri="{FF2B5EF4-FFF2-40B4-BE49-F238E27FC236}">
                <a16:creationId xmlns:a16="http://schemas.microsoft.com/office/drawing/2014/main" id="{934C99D3-3BC9-44DE-A457-4E90AA96083F}"/>
              </a:ext>
            </a:extLst>
          </p:cNvPr>
          <p:cNvPicPr>
            <a:picLocks noChangeAspect="1"/>
          </p:cNvPicPr>
          <p:nvPr/>
        </p:nvPicPr>
        <p:blipFill>
          <a:blip r:embed="rId3"/>
          <a:stretch>
            <a:fillRect/>
          </a:stretch>
        </p:blipFill>
        <p:spPr>
          <a:xfrm>
            <a:off x="224483" y="159614"/>
            <a:ext cx="7772400" cy="3742266"/>
          </a:xfrm>
          <a:prstGeom prst="rect">
            <a:avLst/>
          </a:prstGeom>
        </p:spPr>
      </p:pic>
    </p:spTree>
    <p:extLst>
      <p:ext uri="{BB962C8B-B14F-4D97-AF65-F5344CB8AC3E}">
        <p14:creationId xmlns:p14="http://schemas.microsoft.com/office/powerpoint/2010/main" val="3511275724"/>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95377-3E18-DD94-3C3A-B8194F1E6BEE}"/>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C4E652FD-F883-9713-E136-B3BE5470FCCD}"/>
              </a:ext>
            </a:extLst>
          </p:cNvPr>
          <p:cNvSpPr txBox="1"/>
          <p:nvPr/>
        </p:nvSpPr>
        <p:spPr>
          <a:xfrm>
            <a:off x="338056" y="4566405"/>
            <a:ext cx="7604391" cy="830997"/>
          </a:xfrm>
          <a:prstGeom prst="rect">
            <a:avLst/>
          </a:prstGeom>
          <a:noFill/>
        </p:spPr>
        <p:txBody>
          <a:bodyPr wrap="square">
            <a:spAutoFit/>
          </a:bodyPr>
          <a:lstStyle/>
          <a:p>
            <a:r>
              <a:rPr lang="zh-CN" altLang="zh-CN" sz="1600" dirty="0">
                <a:solidFill>
                  <a:srgbClr val="1F1F1F"/>
                </a:solidFill>
                <a:latin typeface="docs-Roboto"/>
              </a:rPr>
              <a:t>BASE_DUR</a:t>
            </a:r>
            <a:r>
              <a:rPr lang="en-US" altLang="zh-CN" sz="1600" dirty="0">
                <a:solidFill>
                  <a:srgbClr val="1F1F1F"/>
                </a:solidFill>
                <a:latin typeface="docs-Roboto"/>
              </a:rPr>
              <a:t> (</a:t>
            </a:r>
            <a:r>
              <a:rPr lang="zh-CN" altLang="zh-CN" sz="1600" dirty="0">
                <a:solidFill>
                  <a:srgbClr val="1F1F1F"/>
                </a:solidFill>
                <a:latin typeface="docs-Roboto"/>
              </a:rPr>
              <a:t>median</a:t>
            </a:r>
            <a:r>
              <a:rPr lang="en-US" altLang="zh-CN" sz="1600" dirty="0">
                <a:solidFill>
                  <a:srgbClr val="1F1F1F"/>
                </a:solidFill>
                <a:latin typeface="docs-Roboto"/>
              </a:rPr>
              <a:t> of the T</a:t>
            </a:r>
            <a:r>
              <a:rPr lang="zh-CN" altLang="zh-CN" sz="1600" dirty="0">
                <a:solidFill>
                  <a:srgbClr val="1F1F1F"/>
                </a:solidFill>
                <a:latin typeface="docs-Roboto"/>
              </a:rPr>
              <a:t>T</a:t>
            </a:r>
            <a:r>
              <a:rPr lang="en-US" altLang="zh-CN" sz="1600" dirty="0">
                <a:solidFill>
                  <a:srgbClr val="1F1F1F"/>
                </a:solidFill>
                <a:latin typeface="docs-Roboto"/>
              </a:rPr>
              <a:t> </a:t>
            </a:r>
            <a:r>
              <a:rPr lang="zh-CN" altLang="zh-CN" sz="1600" dirty="0">
                <a:solidFill>
                  <a:srgbClr val="1F1F1F"/>
                </a:solidFill>
                <a:latin typeface="docs-Roboto"/>
              </a:rPr>
              <a:t>fixations durations)</a:t>
            </a:r>
            <a:r>
              <a:rPr lang="zh-CN" altLang="zh-CN" sz="1600" b="0" i="0" dirty="0">
                <a:solidFill>
                  <a:srgbClr val="1F1F1F"/>
                </a:solidFill>
                <a:effectLst/>
                <a:latin typeface="docs-Roboto"/>
              </a:rPr>
              <a:t>: </a:t>
            </a:r>
            <a:r>
              <a:rPr lang="en-US" altLang="zh-CN" sz="1600" dirty="0">
                <a:solidFill>
                  <a:srgbClr val="1F1F1F"/>
                </a:solidFill>
                <a:latin typeface="docs-Roboto"/>
              </a:rPr>
              <a:t>263</a:t>
            </a:r>
            <a:r>
              <a:rPr lang="zh-CN" altLang="zh-CN" sz="1600" b="0" i="0" dirty="0">
                <a:solidFill>
                  <a:srgbClr val="1F1F1F"/>
                </a:solidFill>
                <a:effectLst/>
                <a:latin typeface="docs-Roboto"/>
              </a:rPr>
              <a:t>.0; </a:t>
            </a:r>
            <a:endParaRPr lang="en-US" altLang="zh-CN" sz="1600" b="0" i="0" dirty="0">
              <a:solidFill>
                <a:srgbClr val="1F1F1F"/>
              </a:solidFill>
              <a:effectLst/>
              <a:latin typeface="docs-Roboto"/>
            </a:endParaRPr>
          </a:p>
          <a:p>
            <a:r>
              <a:rPr lang="zh-CN" altLang="zh-CN" sz="1600" b="0" i="0" dirty="0">
                <a:solidFill>
                  <a:srgbClr val="1F1F1F"/>
                </a:solidFill>
                <a:effectLst/>
                <a:latin typeface="docs-Roboto"/>
              </a:rPr>
              <a:t>BASE_WORD_JUMP</a:t>
            </a:r>
            <a:r>
              <a:rPr lang="en-US" altLang="zh-CN" sz="1600" b="0" i="0" dirty="0">
                <a:solidFill>
                  <a:srgbClr val="1F1F1F"/>
                </a:solidFill>
                <a:effectLst/>
                <a:latin typeface="docs-Roboto"/>
              </a:rPr>
              <a:t> (</a:t>
            </a:r>
            <a:r>
              <a:rPr lang="zh-CN" altLang="zh-CN" sz="1600" dirty="0">
                <a:solidFill>
                  <a:srgbClr val="1F1F1F"/>
                </a:solidFill>
                <a:latin typeface="docs-Roboto"/>
              </a:rPr>
              <a:t>median change in word-ID between two successive fixations</a:t>
            </a:r>
            <a:r>
              <a:rPr lang="en-US" altLang="zh-CN" sz="1600" dirty="0">
                <a:solidFill>
                  <a:srgbClr val="1F1F1F"/>
                </a:solidFill>
                <a:latin typeface="docs-Roboto"/>
              </a:rPr>
              <a:t> in the TT window)</a:t>
            </a:r>
            <a:r>
              <a:rPr lang="zh-CN" altLang="zh-CN" sz="1600" dirty="0">
                <a:solidFill>
                  <a:srgbClr val="1F1F1F"/>
                </a:solidFill>
                <a:latin typeface="docs-Roboto"/>
              </a:rPr>
              <a:t>: </a:t>
            </a:r>
            <a:r>
              <a:rPr lang="en-US" altLang="zh-CN" sz="1600" dirty="0">
                <a:solidFill>
                  <a:srgbClr val="1F1F1F"/>
                </a:solidFill>
                <a:latin typeface="docs-Roboto"/>
              </a:rPr>
              <a:t>5.0</a:t>
            </a:r>
            <a:endParaRPr lang="zh-CN" altLang="en-US" sz="1600" dirty="0">
              <a:solidFill>
                <a:srgbClr val="1F1F1F"/>
              </a:solidFill>
              <a:latin typeface="docs-Roboto"/>
            </a:endParaRPr>
          </a:p>
        </p:txBody>
      </p:sp>
      <p:sp>
        <p:nvSpPr>
          <p:cNvPr id="9" name="文本框 8">
            <a:extLst>
              <a:ext uri="{FF2B5EF4-FFF2-40B4-BE49-F238E27FC236}">
                <a16:creationId xmlns:a16="http://schemas.microsoft.com/office/drawing/2014/main" id="{EC26041B-4203-F86C-DE46-9B80732652BD}"/>
              </a:ext>
            </a:extLst>
          </p:cNvPr>
          <p:cNvSpPr txBox="1"/>
          <p:nvPr/>
        </p:nvSpPr>
        <p:spPr>
          <a:xfrm>
            <a:off x="8467608" y="389003"/>
            <a:ext cx="3074152" cy="1200329"/>
          </a:xfrm>
          <a:prstGeom prst="rect">
            <a:avLst/>
          </a:prstGeom>
          <a:noFill/>
        </p:spPr>
        <p:txBody>
          <a:bodyPr wrap="square" rtlCol="0">
            <a:spAutoFit/>
          </a:bodyPr>
          <a:lstStyle/>
          <a:p>
            <a:r>
              <a:rPr kumimoji="1" lang="en-US" altLang="zh-CN" b="1" dirty="0"/>
              <a:t>O (others): 6 (46.15%)</a:t>
            </a:r>
          </a:p>
          <a:p>
            <a:r>
              <a:rPr kumimoji="1" lang="en-US" altLang="zh-CN" dirty="0"/>
              <a:t>L (linear-reading): 5 (38.46%)</a:t>
            </a:r>
            <a:endParaRPr kumimoji="1" lang="en-US" altLang="zh-CN" b="1" dirty="0"/>
          </a:p>
          <a:p>
            <a:r>
              <a:rPr kumimoji="1" lang="en-US" altLang="zh-CN" dirty="0"/>
              <a:t>R (re-reading): 1 (15.38%)</a:t>
            </a:r>
          </a:p>
          <a:p>
            <a:r>
              <a:rPr kumimoji="1" lang="en-US" altLang="zh-CN" dirty="0"/>
              <a:t>S (Skimming): 1 (15.38%)</a:t>
            </a:r>
          </a:p>
        </p:txBody>
      </p:sp>
      <p:pic>
        <p:nvPicPr>
          <p:cNvPr id="3" name="图片 2">
            <a:extLst>
              <a:ext uri="{FF2B5EF4-FFF2-40B4-BE49-F238E27FC236}">
                <a16:creationId xmlns:a16="http://schemas.microsoft.com/office/drawing/2014/main" id="{4FB2C017-D4EE-A7E1-6C92-89EF6ECA9A93}"/>
              </a:ext>
            </a:extLst>
          </p:cNvPr>
          <p:cNvPicPr>
            <a:picLocks noChangeAspect="1"/>
          </p:cNvPicPr>
          <p:nvPr/>
        </p:nvPicPr>
        <p:blipFill>
          <a:blip r:embed="rId3"/>
          <a:stretch>
            <a:fillRect/>
          </a:stretch>
        </p:blipFill>
        <p:spPr>
          <a:xfrm>
            <a:off x="170046" y="-1"/>
            <a:ext cx="7957953" cy="4105695"/>
          </a:xfrm>
          <a:prstGeom prst="rect">
            <a:avLst/>
          </a:prstGeom>
        </p:spPr>
      </p:pic>
    </p:spTree>
    <p:extLst>
      <p:ext uri="{BB962C8B-B14F-4D97-AF65-F5344CB8AC3E}">
        <p14:creationId xmlns:p14="http://schemas.microsoft.com/office/powerpoint/2010/main" val="2902075101"/>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A9B60-6EDF-83F4-8149-51A9CA01A240}"/>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E27514FC-520E-B036-2219-947459D6D2EE}"/>
              </a:ext>
            </a:extLst>
          </p:cNvPr>
          <p:cNvSpPr txBox="1"/>
          <p:nvPr/>
        </p:nvSpPr>
        <p:spPr>
          <a:xfrm>
            <a:off x="338056" y="4566405"/>
            <a:ext cx="7604391" cy="830997"/>
          </a:xfrm>
          <a:prstGeom prst="rect">
            <a:avLst/>
          </a:prstGeom>
          <a:noFill/>
        </p:spPr>
        <p:txBody>
          <a:bodyPr wrap="square">
            <a:spAutoFit/>
          </a:bodyPr>
          <a:lstStyle/>
          <a:p>
            <a:r>
              <a:rPr lang="zh-CN" altLang="zh-CN" sz="1600" dirty="0">
                <a:solidFill>
                  <a:srgbClr val="1F1F1F"/>
                </a:solidFill>
                <a:latin typeface="docs-Roboto"/>
              </a:rPr>
              <a:t>BASE_DUR</a:t>
            </a:r>
            <a:r>
              <a:rPr lang="en-US" altLang="zh-CN" sz="1600" dirty="0">
                <a:solidFill>
                  <a:srgbClr val="1F1F1F"/>
                </a:solidFill>
                <a:latin typeface="docs-Roboto"/>
              </a:rPr>
              <a:t> (</a:t>
            </a:r>
            <a:r>
              <a:rPr lang="zh-CN" altLang="zh-CN" sz="1600" dirty="0">
                <a:solidFill>
                  <a:srgbClr val="1F1F1F"/>
                </a:solidFill>
                <a:latin typeface="docs-Roboto"/>
              </a:rPr>
              <a:t>median</a:t>
            </a:r>
            <a:r>
              <a:rPr lang="en-US" altLang="zh-CN" sz="1600" dirty="0">
                <a:solidFill>
                  <a:srgbClr val="1F1F1F"/>
                </a:solidFill>
                <a:latin typeface="docs-Roboto"/>
              </a:rPr>
              <a:t> of the T</a:t>
            </a:r>
            <a:r>
              <a:rPr lang="zh-CN" altLang="zh-CN" sz="1600" dirty="0">
                <a:solidFill>
                  <a:srgbClr val="1F1F1F"/>
                </a:solidFill>
                <a:latin typeface="docs-Roboto"/>
              </a:rPr>
              <a:t>T</a:t>
            </a:r>
            <a:r>
              <a:rPr lang="en-US" altLang="zh-CN" sz="1600" dirty="0">
                <a:solidFill>
                  <a:srgbClr val="1F1F1F"/>
                </a:solidFill>
                <a:latin typeface="docs-Roboto"/>
              </a:rPr>
              <a:t> </a:t>
            </a:r>
            <a:r>
              <a:rPr lang="zh-CN" altLang="zh-CN" sz="1600" dirty="0">
                <a:solidFill>
                  <a:srgbClr val="1F1F1F"/>
                </a:solidFill>
                <a:latin typeface="docs-Roboto"/>
              </a:rPr>
              <a:t>fixations durations)</a:t>
            </a:r>
            <a:r>
              <a:rPr lang="zh-CN" altLang="zh-CN" sz="1600" b="0" i="0" dirty="0">
                <a:solidFill>
                  <a:srgbClr val="1F1F1F"/>
                </a:solidFill>
                <a:effectLst/>
                <a:latin typeface="docs-Roboto"/>
              </a:rPr>
              <a:t>: </a:t>
            </a:r>
            <a:r>
              <a:rPr lang="en-US" altLang="zh-CN" sz="1600" b="0" i="0" dirty="0">
                <a:solidFill>
                  <a:srgbClr val="1F1F1F"/>
                </a:solidFill>
                <a:effectLst/>
                <a:latin typeface="docs-Roboto"/>
              </a:rPr>
              <a:t>468</a:t>
            </a:r>
            <a:r>
              <a:rPr lang="zh-CN" altLang="zh-CN" sz="1600" b="0" i="0" dirty="0">
                <a:solidFill>
                  <a:srgbClr val="1F1F1F"/>
                </a:solidFill>
                <a:effectLst/>
                <a:latin typeface="docs-Roboto"/>
              </a:rPr>
              <a:t>.0; </a:t>
            </a:r>
            <a:endParaRPr lang="en-US" altLang="zh-CN" sz="1600" b="0" i="0" dirty="0">
              <a:solidFill>
                <a:srgbClr val="1F1F1F"/>
              </a:solidFill>
              <a:effectLst/>
              <a:latin typeface="docs-Roboto"/>
            </a:endParaRPr>
          </a:p>
          <a:p>
            <a:r>
              <a:rPr lang="zh-CN" altLang="zh-CN" sz="1600" b="0" i="0" dirty="0">
                <a:solidFill>
                  <a:srgbClr val="1F1F1F"/>
                </a:solidFill>
                <a:effectLst/>
                <a:latin typeface="docs-Roboto"/>
              </a:rPr>
              <a:t>BASE_WORD_JUMP</a:t>
            </a:r>
            <a:r>
              <a:rPr lang="en-US" altLang="zh-CN" sz="1600" b="0" i="0" dirty="0">
                <a:solidFill>
                  <a:srgbClr val="1F1F1F"/>
                </a:solidFill>
                <a:effectLst/>
                <a:latin typeface="docs-Roboto"/>
              </a:rPr>
              <a:t> (</a:t>
            </a:r>
            <a:r>
              <a:rPr lang="zh-CN" altLang="zh-CN" sz="1600" dirty="0">
                <a:solidFill>
                  <a:srgbClr val="1F1F1F"/>
                </a:solidFill>
                <a:latin typeface="docs-Roboto"/>
              </a:rPr>
              <a:t>median change in word-ID between two successive fixations</a:t>
            </a:r>
            <a:r>
              <a:rPr lang="en-US" altLang="zh-CN" sz="1600" dirty="0">
                <a:solidFill>
                  <a:srgbClr val="1F1F1F"/>
                </a:solidFill>
                <a:latin typeface="docs-Roboto"/>
              </a:rPr>
              <a:t> in the TT window)</a:t>
            </a:r>
            <a:r>
              <a:rPr lang="zh-CN" altLang="zh-CN" sz="1600" dirty="0">
                <a:solidFill>
                  <a:srgbClr val="1F1F1F"/>
                </a:solidFill>
                <a:latin typeface="docs-Roboto"/>
              </a:rPr>
              <a:t>: </a:t>
            </a:r>
            <a:r>
              <a:rPr lang="en-US" altLang="zh-CN" sz="1600" dirty="0">
                <a:solidFill>
                  <a:srgbClr val="1F1F1F"/>
                </a:solidFill>
                <a:latin typeface="docs-Roboto"/>
              </a:rPr>
              <a:t>4.0</a:t>
            </a:r>
            <a:endParaRPr lang="zh-CN" altLang="en-US" sz="1600" dirty="0">
              <a:solidFill>
                <a:srgbClr val="1F1F1F"/>
              </a:solidFill>
              <a:latin typeface="docs-Roboto"/>
            </a:endParaRPr>
          </a:p>
        </p:txBody>
      </p:sp>
      <p:sp>
        <p:nvSpPr>
          <p:cNvPr id="9" name="文本框 8">
            <a:extLst>
              <a:ext uri="{FF2B5EF4-FFF2-40B4-BE49-F238E27FC236}">
                <a16:creationId xmlns:a16="http://schemas.microsoft.com/office/drawing/2014/main" id="{87E259FC-914C-9B31-F7A2-2F34C2730589}"/>
              </a:ext>
            </a:extLst>
          </p:cNvPr>
          <p:cNvSpPr txBox="1"/>
          <p:nvPr/>
        </p:nvSpPr>
        <p:spPr>
          <a:xfrm>
            <a:off x="8467608" y="389003"/>
            <a:ext cx="3074152" cy="1200329"/>
          </a:xfrm>
          <a:prstGeom prst="rect">
            <a:avLst/>
          </a:prstGeom>
          <a:noFill/>
        </p:spPr>
        <p:txBody>
          <a:bodyPr wrap="square" rtlCol="0">
            <a:spAutoFit/>
          </a:bodyPr>
          <a:lstStyle/>
          <a:p>
            <a:r>
              <a:rPr kumimoji="1" lang="en-US" altLang="zh-CN" b="1" dirty="0"/>
              <a:t>R (re-reading): 5 (38.46%)</a:t>
            </a:r>
          </a:p>
          <a:p>
            <a:r>
              <a:rPr kumimoji="1" lang="en-US" altLang="zh-CN" dirty="0"/>
              <a:t>S (Skimming): 4 (30.77%)</a:t>
            </a:r>
            <a:endParaRPr kumimoji="1" lang="en-US" altLang="zh-CN" b="1" dirty="0"/>
          </a:p>
          <a:p>
            <a:r>
              <a:rPr kumimoji="1" lang="en-US" altLang="zh-CN" dirty="0"/>
              <a:t>O (others): 4 (30.77%)</a:t>
            </a:r>
          </a:p>
          <a:p>
            <a:r>
              <a:rPr kumimoji="1" lang="en-US" altLang="zh-CN" dirty="0"/>
              <a:t>L (linear-reading): 0</a:t>
            </a:r>
            <a:endParaRPr kumimoji="1" lang="en-US" altLang="zh-CN" b="1" dirty="0"/>
          </a:p>
        </p:txBody>
      </p:sp>
      <p:pic>
        <p:nvPicPr>
          <p:cNvPr id="4" name="图片 3">
            <a:extLst>
              <a:ext uri="{FF2B5EF4-FFF2-40B4-BE49-F238E27FC236}">
                <a16:creationId xmlns:a16="http://schemas.microsoft.com/office/drawing/2014/main" id="{3607A8A5-7F00-C6DD-2177-F14ABC6B336B}"/>
              </a:ext>
            </a:extLst>
          </p:cNvPr>
          <p:cNvPicPr>
            <a:picLocks noChangeAspect="1"/>
          </p:cNvPicPr>
          <p:nvPr/>
        </p:nvPicPr>
        <p:blipFill>
          <a:blip r:embed="rId3"/>
          <a:stretch>
            <a:fillRect/>
          </a:stretch>
        </p:blipFill>
        <p:spPr>
          <a:xfrm>
            <a:off x="0" y="265913"/>
            <a:ext cx="8475452" cy="4051363"/>
          </a:xfrm>
          <a:prstGeom prst="rect">
            <a:avLst/>
          </a:prstGeom>
        </p:spPr>
      </p:pic>
    </p:spTree>
    <p:extLst>
      <p:ext uri="{BB962C8B-B14F-4D97-AF65-F5344CB8AC3E}">
        <p14:creationId xmlns:p14="http://schemas.microsoft.com/office/powerpoint/2010/main" val="2873573837"/>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C077A-9BA2-4EE8-E858-F26B60C4BFA9}"/>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317F8274-665B-722B-DB91-4FB64307BEBF}"/>
              </a:ext>
            </a:extLst>
          </p:cNvPr>
          <p:cNvSpPr txBox="1"/>
          <p:nvPr/>
        </p:nvSpPr>
        <p:spPr>
          <a:xfrm>
            <a:off x="338056" y="4566405"/>
            <a:ext cx="7604391" cy="830997"/>
          </a:xfrm>
          <a:prstGeom prst="rect">
            <a:avLst/>
          </a:prstGeom>
          <a:noFill/>
        </p:spPr>
        <p:txBody>
          <a:bodyPr wrap="square">
            <a:spAutoFit/>
          </a:bodyPr>
          <a:lstStyle/>
          <a:p>
            <a:r>
              <a:rPr lang="zh-CN" altLang="zh-CN" sz="1600" dirty="0">
                <a:solidFill>
                  <a:srgbClr val="1F1F1F"/>
                </a:solidFill>
                <a:latin typeface="docs-Roboto"/>
              </a:rPr>
              <a:t>BASE_DUR</a:t>
            </a:r>
            <a:r>
              <a:rPr lang="en-US" altLang="zh-CN" sz="1600" dirty="0">
                <a:solidFill>
                  <a:srgbClr val="1F1F1F"/>
                </a:solidFill>
                <a:latin typeface="docs-Roboto"/>
              </a:rPr>
              <a:t> (</a:t>
            </a:r>
            <a:r>
              <a:rPr lang="zh-CN" altLang="zh-CN" sz="1600" dirty="0">
                <a:solidFill>
                  <a:srgbClr val="1F1F1F"/>
                </a:solidFill>
                <a:latin typeface="docs-Roboto"/>
              </a:rPr>
              <a:t>median</a:t>
            </a:r>
            <a:r>
              <a:rPr lang="en-US" altLang="zh-CN" sz="1600" dirty="0">
                <a:solidFill>
                  <a:srgbClr val="1F1F1F"/>
                </a:solidFill>
                <a:latin typeface="docs-Roboto"/>
              </a:rPr>
              <a:t> of the </a:t>
            </a:r>
            <a:r>
              <a:rPr lang="zh-CN" altLang="zh-CN" sz="1600" dirty="0">
                <a:solidFill>
                  <a:srgbClr val="1F1F1F"/>
                </a:solidFill>
                <a:latin typeface="docs-Roboto"/>
              </a:rPr>
              <a:t>ST</a:t>
            </a:r>
            <a:r>
              <a:rPr lang="en-US" altLang="zh-CN" sz="1600" dirty="0">
                <a:solidFill>
                  <a:srgbClr val="1F1F1F"/>
                </a:solidFill>
                <a:latin typeface="docs-Roboto"/>
              </a:rPr>
              <a:t> </a:t>
            </a:r>
            <a:r>
              <a:rPr lang="zh-CN" altLang="zh-CN" sz="1600" dirty="0">
                <a:solidFill>
                  <a:srgbClr val="1F1F1F"/>
                </a:solidFill>
                <a:latin typeface="docs-Roboto"/>
              </a:rPr>
              <a:t>fixations durations): 330.0; </a:t>
            </a:r>
            <a:endParaRPr lang="en-US" altLang="zh-CN" sz="1600" dirty="0">
              <a:solidFill>
                <a:srgbClr val="1F1F1F"/>
              </a:solidFill>
              <a:latin typeface="docs-Roboto"/>
            </a:endParaRPr>
          </a:p>
          <a:p>
            <a:r>
              <a:rPr lang="zh-CN" altLang="zh-CN" sz="1600" dirty="0">
                <a:solidFill>
                  <a:srgbClr val="1F1F1F"/>
                </a:solidFill>
                <a:latin typeface="docs-Roboto"/>
              </a:rPr>
              <a:t>BASE_WORD_JUMP</a:t>
            </a:r>
            <a:r>
              <a:rPr lang="en-US" altLang="zh-CN" sz="1600" dirty="0">
                <a:solidFill>
                  <a:srgbClr val="1F1F1F"/>
                </a:solidFill>
                <a:latin typeface="docs-Roboto"/>
              </a:rPr>
              <a:t> (</a:t>
            </a:r>
            <a:r>
              <a:rPr lang="zh-CN" altLang="zh-CN" sz="1600" dirty="0">
                <a:solidFill>
                  <a:srgbClr val="1F1F1F"/>
                </a:solidFill>
                <a:latin typeface="docs-Roboto"/>
              </a:rPr>
              <a:t>median change in word-ID between two successive fixations</a:t>
            </a:r>
            <a:r>
              <a:rPr lang="zh-CN" altLang="en-US" sz="1600" dirty="0">
                <a:solidFill>
                  <a:srgbClr val="1F1F1F"/>
                </a:solidFill>
                <a:latin typeface="docs-Roboto"/>
              </a:rPr>
              <a:t> </a:t>
            </a:r>
            <a:r>
              <a:rPr lang="en-US" altLang="zh-CN" sz="1600" dirty="0">
                <a:solidFill>
                  <a:srgbClr val="1F1F1F"/>
                </a:solidFill>
                <a:latin typeface="docs-Roboto"/>
              </a:rPr>
              <a:t>in</a:t>
            </a:r>
            <a:r>
              <a:rPr lang="zh-CN" altLang="en-US" sz="1600" dirty="0">
                <a:solidFill>
                  <a:srgbClr val="1F1F1F"/>
                </a:solidFill>
                <a:latin typeface="docs-Roboto"/>
              </a:rPr>
              <a:t> </a:t>
            </a:r>
            <a:r>
              <a:rPr lang="en-US" altLang="zh-CN" sz="1600" dirty="0">
                <a:solidFill>
                  <a:srgbClr val="1F1F1F"/>
                </a:solidFill>
                <a:latin typeface="docs-Roboto"/>
              </a:rPr>
              <a:t>the ST window)</a:t>
            </a:r>
            <a:r>
              <a:rPr lang="zh-CN" altLang="zh-CN" sz="1600" dirty="0">
                <a:solidFill>
                  <a:srgbClr val="1F1F1F"/>
                </a:solidFill>
                <a:latin typeface="docs-Roboto"/>
              </a:rPr>
              <a:t>: 2.0</a:t>
            </a:r>
            <a:endParaRPr lang="zh-CN" altLang="en-US" sz="1600" dirty="0">
              <a:solidFill>
                <a:srgbClr val="1F1F1F"/>
              </a:solidFill>
              <a:latin typeface="docs-Roboto"/>
            </a:endParaRPr>
          </a:p>
        </p:txBody>
      </p:sp>
      <p:sp>
        <p:nvSpPr>
          <p:cNvPr id="9" name="文本框 8">
            <a:extLst>
              <a:ext uri="{FF2B5EF4-FFF2-40B4-BE49-F238E27FC236}">
                <a16:creationId xmlns:a16="http://schemas.microsoft.com/office/drawing/2014/main" id="{466CA0CA-B025-D602-7457-EE0A07DE17D2}"/>
              </a:ext>
            </a:extLst>
          </p:cNvPr>
          <p:cNvSpPr txBox="1"/>
          <p:nvPr/>
        </p:nvSpPr>
        <p:spPr>
          <a:xfrm>
            <a:off x="8833368" y="429643"/>
            <a:ext cx="3074152" cy="1200329"/>
          </a:xfrm>
          <a:prstGeom prst="rect">
            <a:avLst/>
          </a:prstGeom>
          <a:noFill/>
        </p:spPr>
        <p:txBody>
          <a:bodyPr wrap="square" rtlCol="0">
            <a:spAutoFit/>
          </a:bodyPr>
          <a:lstStyle/>
          <a:p>
            <a:r>
              <a:rPr kumimoji="1" lang="en-US" altLang="zh-CN" b="1" dirty="0"/>
              <a:t>R (re-reading): 8 (61.54%)</a:t>
            </a:r>
          </a:p>
          <a:p>
            <a:r>
              <a:rPr kumimoji="1" lang="en-US" altLang="zh-CN" dirty="0"/>
              <a:t>O (others): 3 (23.08%)</a:t>
            </a:r>
          </a:p>
          <a:p>
            <a:r>
              <a:rPr kumimoji="1" lang="en-US" altLang="zh-CN" dirty="0"/>
              <a:t>L (linear-reading): 2 (15.38%)</a:t>
            </a:r>
          </a:p>
          <a:p>
            <a:r>
              <a:rPr kumimoji="1" lang="en-US" altLang="zh-CN" dirty="0"/>
              <a:t>S (Skimming): 0</a:t>
            </a:r>
            <a:endParaRPr kumimoji="1" lang="en-US" altLang="zh-CN" b="1" dirty="0"/>
          </a:p>
        </p:txBody>
      </p:sp>
      <p:pic>
        <p:nvPicPr>
          <p:cNvPr id="3" name="图片 2">
            <a:extLst>
              <a:ext uri="{FF2B5EF4-FFF2-40B4-BE49-F238E27FC236}">
                <a16:creationId xmlns:a16="http://schemas.microsoft.com/office/drawing/2014/main" id="{CFB4E8E5-5ED0-D730-4CDE-322E552D1559}"/>
              </a:ext>
            </a:extLst>
          </p:cNvPr>
          <p:cNvPicPr>
            <a:picLocks noChangeAspect="1"/>
          </p:cNvPicPr>
          <p:nvPr/>
        </p:nvPicPr>
        <p:blipFill>
          <a:blip r:embed="rId3"/>
          <a:stretch>
            <a:fillRect/>
          </a:stretch>
        </p:blipFill>
        <p:spPr>
          <a:xfrm>
            <a:off x="78607" y="259535"/>
            <a:ext cx="8503639" cy="4064119"/>
          </a:xfrm>
          <a:prstGeom prst="rect">
            <a:avLst/>
          </a:prstGeom>
        </p:spPr>
      </p:pic>
    </p:spTree>
    <p:extLst>
      <p:ext uri="{BB962C8B-B14F-4D97-AF65-F5344CB8AC3E}">
        <p14:creationId xmlns:p14="http://schemas.microsoft.com/office/powerpoint/2010/main" val="3534723983"/>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0FC86-9D46-63E8-E160-18843F412853}"/>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9F324E7-7C77-A947-13A9-7B1C052824C2}"/>
              </a:ext>
            </a:extLst>
          </p:cNvPr>
          <p:cNvSpPr txBox="1"/>
          <p:nvPr/>
        </p:nvSpPr>
        <p:spPr>
          <a:xfrm>
            <a:off x="8833368" y="429643"/>
            <a:ext cx="3074152" cy="1200329"/>
          </a:xfrm>
          <a:prstGeom prst="rect">
            <a:avLst/>
          </a:prstGeom>
          <a:noFill/>
        </p:spPr>
        <p:txBody>
          <a:bodyPr wrap="square" rtlCol="0">
            <a:spAutoFit/>
          </a:bodyPr>
          <a:lstStyle/>
          <a:p>
            <a:r>
              <a:rPr kumimoji="1" lang="en-US" altLang="zh-CN" b="1" dirty="0"/>
              <a:t>S (Skimming): 7 (53.85%)</a:t>
            </a:r>
          </a:p>
          <a:p>
            <a:r>
              <a:rPr kumimoji="1" lang="en-US" altLang="zh-CN" dirty="0"/>
              <a:t>R (re-reading): 3 (23.08%)</a:t>
            </a:r>
          </a:p>
          <a:p>
            <a:r>
              <a:rPr kumimoji="1" lang="en-US" altLang="zh-CN" dirty="0"/>
              <a:t>L (linear-reading): 2 (15.38%)</a:t>
            </a:r>
          </a:p>
          <a:p>
            <a:r>
              <a:rPr kumimoji="1" lang="en-US" altLang="zh-CN" dirty="0"/>
              <a:t>O (others): 1 (23.08%)</a:t>
            </a:r>
          </a:p>
        </p:txBody>
      </p:sp>
      <p:pic>
        <p:nvPicPr>
          <p:cNvPr id="4" name="图片 3">
            <a:extLst>
              <a:ext uri="{FF2B5EF4-FFF2-40B4-BE49-F238E27FC236}">
                <a16:creationId xmlns:a16="http://schemas.microsoft.com/office/drawing/2014/main" id="{766CDB3B-556A-2C70-F9D7-FD035DC60A8A}"/>
              </a:ext>
            </a:extLst>
          </p:cNvPr>
          <p:cNvPicPr>
            <a:picLocks noChangeAspect="1"/>
          </p:cNvPicPr>
          <p:nvPr/>
        </p:nvPicPr>
        <p:blipFill>
          <a:blip r:embed="rId3"/>
          <a:stretch>
            <a:fillRect/>
          </a:stretch>
        </p:blipFill>
        <p:spPr>
          <a:xfrm>
            <a:off x="478728" y="398934"/>
            <a:ext cx="7772400" cy="3785322"/>
          </a:xfrm>
          <a:prstGeom prst="rect">
            <a:avLst/>
          </a:prstGeom>
        </p:spPr>
      </p:pic>
      <p:sp>
        <p:nvSpPr>
          <p:cNvPr id="5" name="文本框 4">
            <a:extLst>
              <a:ext uri="{FF2B5EF4-FFF2-40B4-BE49-F238E27FC236}">
                <a16:creationId xmlns:a16="http://schemas.microsoft.com/office/drawing/2014/main" id="{2B97EA88-7CAE-BFD0-1DCC-CBB8AD9398CC}"/>
              </a:ext>
            </a:extLst>
          </p:cNvPr>
          <p:cNvSpPr txBox="1"/>
          <p:nvPr/>
        </p:nvSpPr>
        <p:spPr>
          <a:xfrm>
            <a:off x="338056" y="4566405"/>
            <a:ext cx="7604391" cy="830997"/>
          </a:xfrm>
          <a:prstGeom prst="rect">
            <a:avLst/>
          </a:prstGeom>
          <a:noFill/>
        </p:spPr>
        <p:txBody>
          <a:bodyPr wrap="square">
            <a:spAutoFit/>
          </a:bodyPr>
          <a:lstStyle/>
          <a:p>
            <a:r>
              <a:rPr lang="zh-CN" altLang="zh-CN" sz="1600" dirty="0">
                <a:solidFill>
                  <a:srgbClr val="1F1F1F"/>
                </a:solidFill>
                <a:latin typeface="docs-Roboto"/>
              </a:rPr>
              <a:t>BASE_DUR</a:t>
            </a:r>
            <a:r>
              <a:rPr lang="en-US" altLang="zh-CN" sz="1600" dirty="0">
                <a:solidFill>
                  <a:srgbClr val="1F1F1F"/>
                </a:solidFill>
                <a:latin typeface="docs-Roboto"/>
              </a:rPr>
              <a:t> (</a:t>
            </a:r>
            <a:r>
              <a:rPr lang="zh-CN" altLang="zh-CN" sz="1600" dirty="0">
                <a:solidFill>
                  <a:srgbClr val="1F1F1F"/>
                </a:solidFill>
                <a:latin typeface="docs-Roboto"/>
              </a:rPr>
              <a:t>median</a:t>
            </a:r>
            <a:r>
              <a:rPr lang="en-US" altLang="zh-CN" sz="1600" dirty="0">
                <a:solidFill>
                  <a:srgbClr val="1F1F1F"/>
                </a:solidFill>
                <a:latin typeface="docs-Roboto"/>
              </a:rPr>
              <a:t> of the T</a:t>
            </a:r>
            <a:r>
              <a:rPr lang="zh-CN" altLang="zh-CN" sz="1600" dirty="0">
                <a:solidFill>
                  <a:srgbClr val="1F1F1F"/>
                </a:solidFill>
                <a:latin typeface="docs-Roboto"/>
              </a:rPr>
              <a:t>T</a:t>
            </a:r>
            <a:r>
              <a:rPr lang="en-US" altLang="zh-CN" sz="1600" dirty="0">
                <a:solidFill>
                  <a:srgbClr val="1F1F1F"/>
                </a:solidFill>
                <a:latin typeface="docs-Roboto"/>
              </a:rPr>
              <a:t> </a:t>
            </a:r>
            <a:r>
              <a:rPr lang="zh-CN" altLang="zh-CN" sz="1600" dirty="0">
                <a:solidFill>
                  <a:srgbClr val="1F1F1F"/>
                </a:solidFill>
                <a:latin typeface="docs-Roboto"/>
              </a:rPr>
              <a:t>fixations durations)</a:t>
            </a:r>
            <a:r>
              <a:rPr lang="zh-CN" altLang="zh-CN" sz="1600" b="0" i="0" dirty="0">
                <a:solidFill>
                  <a:srgbClr val="1F1F1F"/>
                </a:solidFill>
                <a:effectLst/>
                <a:latin typeface="docs-Roboto"/>
              </a:rPr>
              <a:t>: </a:t>
            </a:r>
            <a:r>
              <a:rPr lang="en-US" altLang="zh-CN" sz="1600" dirty="0">
                <a:solidFill>
                  <a:srgbClr val="1F1F1F"/>
                </a:solidFill>
                <a:latin typeface="docs-Roboto"/>
              </a:rPr>
              <a:t>263</a:t>
            </a:r>
            <a:r>
              <a:rPr lang="zh-CN" altLang="zh-CN" sz="1600" b="0" i="0" dirty="0">
                <a:solidFill>
                  <a:srgbClr val="1F1F1F"/>
                </a:solidFill>
                <a:effectLst/>
                <a:latin typeface="docs-Roboto"/>
              </a:rPr>
              <a:t>.0; </a:t>
            </a:r>
            <a:endParaRPr lang="en-US" altLang="zh-CN" sz="1600" b="0" i="0" dirty="0">
              <a:solidFill>
                <a:srgbClr val="1F1F1F"/>
              </a:solidFill>
              <a:effectLst/>
              <a:latin typeface="docs-Roboto"/>
            </a:endParaRPr>
          </a:p>
          <a:p>
            <a:r>
              <a:rPr lang="zh-CN" altLang="zh-CN" sz="1600" b="0" i="0" dirty="0">
                <a:solidFill>
                  <a:srgbClr val="1F1F1F"/>
                </a:solidFill>
                <a:effectLst/>
                <a:latin typeface="docs-Roboto"/>
              </a:rPr>
              <a:t>BASE_WORD_JUMP</a:t>
            </a:r>
            <a:r>
              <a:rPr lang="en-US" altLang="zh-CN" sz="1600" b="0" i="0" dirty="0">
                <a:solidFill>
                  <a:srgbClr val="1F1F1F"/>
                </a:solidFill>
                <a:effectLst/>
                <a:latin typeface="docs-Roboto"/>
              </a:rPr>
              <a:t> (</a:t>
            </a:r>
            <a:r>
              <a:rPr lang="zh-CN" altLang="zh-CN" sz="1600" dirty="0">
                <a:solidFill>
                  <a:srgbClr val="1F1F1F"/>
                </a:solidFill>
                <a:latin typeface="docs-Roboto"/>
              </a:rPr>
              <a:t>median change in word-ID between two successive fixations</a:t>
            </a:r>
            <a:r>
              <a:rPr lang="en-US" altLang="zh-CN" sz="1600" dirty="0">
                <a:solidFill>
                  <a:srgbClr val="1F1F1F"/>
                </a:solidFill>
                <a:latin typeface="docs-Roboto"/>
              </a:rPr>
              <a:t> in the TT window)</a:t>
            </a:r>
            <a:r>
              <a:rPr lang="zh-CN" altLang="zh-CN" sz="1600" dirty="0">
                <a:solidFill>
                  <a:srgbClr val="1F1F1F"/>
                </a:solidFill>
                <a:latin typeface="docs-Roboto"/>
              </a:rPr>
              <a:t>: </a:t>
            </a:r>
            <a:r>
              <a:rPr lang="en-US" altLang="zh-CN" sz="1600" dirty="0">
                <a:solidFill>
                  <a:srgbClr val="1F1F1F"/>
                </a:solidFill>
                <a:latin typeface="docs-Roboto"/>
              </a:rPr>
              <a:t>5.0</a:t>
            </a:r>
            <a:endParaRPr lang="zh-CN" altLang="en-US" sz="1600" dirty="0">
              <a:solidFill>
                <a:srgbClr val="1F1F1F"/>
              </a:solidFill>
              <a:latin typeface="docs-Roboto"/>
            </a:endParaRPr>
          </a:p>
        </p:txBody>
      </p:sp>
    </p:spTree>
    <p:extLst>
      <p:ext uri="{BB962C8B-B14F-4D97-AF65-F5344CB8AC3E}">
        <p14:creationId xmlns:p14="http://schemas.microsoft.com/office/powerpoint/2010/main" val="285619648"/>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F5EA59-A3A9-EAD6-3A0B-C8C54B2A7D9A}"/>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FE951B43-C479-AD8C-8671-5F8A9DD433DC}"/>
              </a:ext>
            </a:extLst>
          </p:cNvPr>
          <p:cNvSpPr txBox="1"/>
          <p:nvPr/>
        </p:nvSpPr>
        <p:spPr>
          <a:xfrm>
            <a:off x="8441736" y="368683"/>
            <a:ext cx="3412208" cy="1200329"/>
          </a:xfrm>
          <a:prstGeom prst="rect">
            <a:avLst/>
          </a:prstGeom>
          <a:noFill/>
        </p:spPr>
        <p:txBody>
          <a:bodyPr wrap="square" rtlCol="0">
            <a:spAutoFit/>
          </a:bodyPr>
          <a:lstStyle/>
          <a:p>
            <a:r>
              <a:rPr kumimoji="1" lang="en-US" altLang="zh-CN" b="1" dirty="0"/>
              <a:t>L (linear-reading): 10 (76.92%)</a:t>
            </a:r>
          </a:p>
          <a:p>
            <a:r>
              <a:rPr kumimoji="1" lang="en-US" altLang="zh-CN" dirty="0"/>
              <a:t>O (others): 2 (15.38%)</a:t>
            </a:r>
          </a:p>
          <a:p>
            <a:r>
              <a:rPr kumimoji="1" lang="en-US" altLang="zh-CN" dirty="0"/>
              <a:t>R (re-reading): 1 (7.69%)</a:t>
            </a:r>
          </a:p>
          <a:p>
            <a:r>
              <a:rPr kumimoji="1" lang="en-US" altLang="zh-CN" dirty="0"/>
              <a:t>S (Skimming): 0 </a:t>
            </a:r>
          </a:p>
        </p:txBody>
      </p:sp>
      <p:sp>
        <p:nvSpPr>
          <p:cNvPr id="5" name="文本框 4">
            <a:extLst>
              <a:ext uri="{FF2B5EF4-FFF2-40B4-BE49-F238E27FC236}">
                <a16:creationId xmlns:a16="http://schemas.microsoft.com/office/drawing/2014/main" id="{707378FD-F6C7-0D15-A2AE-5D9C385CEF20}"/>
              </a:ext>
            </a:extLst>
          </p:cNvPr>
          <p:cNvSpPr txBox="1"/>
          <p:nvPr/>
        </p:nvSpPr>
        <p:spPr>
          <a:xfrm>
            <a:off x="338056" y="4566405"/>
            <a:ext cx="7604391" cy="830997"/>
          </a:xfrm>
          <a:prstGeom prst="rect">
            <a:avLst/>
          </a:prstGeom>
          <a:noFill/>
        </p:spPr>
        <p:txBody>
          <a:bodyPr wrap="square">
            <a:spAutoFit/>
          </a:bodyPr>
          <a:lstStyle/>
          <a:p>
            <a:r>
              <a:rPr lang="zh-CN" altLang="zh-CN" sz="1600" dirty="0">
                <a:solidFill>
                  <a:srgbClr val="1F1F1F"/>
                </a:solidFill>
                <a:latin typeface="docs-Roboto"/>
              </a:rPr>
              <a:t>BASE_DUR</a:t>
            </a:r>
            <a:r>
              <a:rPr lang="en-US" altLang="zh-CN" sz="1600" dirty="0">
                <a:solidFill>
                  <a:srgbClr val="1F1F1F"/>
                </a:solidFill>
                <a:latin typeface="docs-Roboto"/>
              </a:rPr>
              <a:t> (</a:t>
            </a:r>
            <a:r>
              <a:rPr lang="zh-CN" altLang="zh-CN" sz="1600" dirty="0">
                <a:solidFill>
                  <a:srgbClr val="1F1F1F"/>
                </a:solidFill>
                <a:latin typeface="docs-Roboto"/>
              </a:rPr>
              <a:t>median</a:t>
            </a:r>
            <a:r>
              <a:rPr lang="en-US" altLang="zh-CN" sz="1600" dirty="0">
                <a:solidFill>
                  <a:srgbClr val="1F1F1F"/>
                </a:solidFill>
                <a:latin typeface="docs-Roboto"/>
              </a:rPr>
              <a:t> of the T</a:t>
            </a:r>
            <a:r>
              <a:rPr lang="zh-CN" altLang="zh-CN" sz="1600" dirty="0">
                <a:solidFill>
                  <a:srgbClr val="1F1F1F"/>
                </a:solidFill>
                <a:latin typeface="docs-Roboto"/>
              </a:rPr>
              <a:t>T</a:t>
            </a:r>
            <a:r>
              <a:rPr lang="en-US" altLang="zh-CN" sz="1600" dirty="0">
                <a:solidFill>
                  <a:srgbClr val="1F1F1F"/>
                </a:solidFill>
                <a:latin typeface="docs-Roboto"/>
              </a:rPr>
              <a:t> </a:t>
            </a:r>
            <a:r>
              <a:rPr lang="zh-CN" altLang="zh-CN" sz="1600" dirty="0">
                <a:solidFill>
                  <a:srgbClr val="1F1F1F"/>
                </a:solidFill>
                <a:latin typeface="docs-Roboto"/>
              </a:rPr>
              <a:t>fixations durations)</a:t>
            </a:r>
            <a:r>
              <a:rPr lang="zh-CN" altLang="zh-CN" sz="1600" b="0" i="0" dirty="0">
                <a:solidFill>
                  <a:srgbClr val="1F1F1F"/>
                </a:solidFill>
                <a:effectLst/>
                <a:latin typeface="docs-Roboto"/>
              </a:rPr>
              <a:t>: </a:t>
            </a:r>
            <a:r>
              <a:rPr lang="en-US" altLang="zh-CN" sz="1600" b="0" i="0" dirty="0">
                <a:solidFill>
                  <a:srgbClr val="1F1F1F"/>
                </a:solidFill>
                <a:effectLst/>
                <a:latin typeface="docs-Roboto"/>
              </a:rPr>
              <a:t>340</a:t>
            </a:r>
            <a:r>
              <a:rPr lang="zh-CN" altLang="zh-CN" sz="1600" b="0" i="0" dirty="0">
                <a:solidFill>
                  <a:srgbClr val="1F1F1F"/>
                </a:solidFill>
                <a:effectLst/>
                <a:latin typeface="docs-Roboto"/>
              </a:rPr>
              <a:t>.0; </a:t>
            </a:r>
            <a:endParaRPr lang="en-US" altLang="zh-CN" sz="1600" b="0" i="0" dirty="0">
              <a:solidFill>
                <a:srgbClr val="1F1F1F"/>
              </a:solidFill>
              <a:effectLst/>
              <a:latin typeface="docs-Roboto"/>
            </a:endParaRPr>
          </a:p>
          <a:p>
            <a:r>
              <a:rPr lang="zh-CN" altLang="zh-CN" sz="1600" b="0" i="0" dirty="0">
                <a:solidFill>
                  <a:srgbClr val="1F1F1F"/>
                </a:solidFill>
                <a:effectLst/>
                <a:latin typeface="docs-Roboto"/>
              </a:rPr>
              <a:t>BASE_WORD_JUMP</a:t>
            </a:r>
            <a:r>
              <a:rPr lang="en-US" altLang="zh-CN" sz="1600" b="0" i="0" dirty="0">
                <a:solidFill>
                  <a:srgbClr val="1F1F1F"/>
                </a:solidFill>
                <a:effectLst/>
                <a:latin typeface="docs-Roboto"/>
              </a:rPr>
              <a:t> (</a:t>
            </a:r>
            <a:r>
              <a:rPr lang="zh-CN" altLang="zh-CN" sz="1600" dirty="0">
                <a:solidFill>
                  <a:srgbClr val="1F1F1F"/>
                </a:solidFill>
                <a:latin typeface="docs-Roboto"/>
              </a:rPr>
              <a:t>median change in word-ID between two successive fixations</a:t>
            </a:r>
            <a:r>
              <a:rPr lang="en-US" altLang="zh-CN" sz="1600" dirty="0">
                <a:solidFill>
                  <a:srgbClr val="1F1F1F"/>
                </a:solidFill>
                <a:latin typeface="docs-Roboto"/>
              </a:rPr>
              <a:t> in the TT window)</a:t>
            </a:r>
            <a:r>
              <a:rPr lang="zh-CN" altLang="zh-CN" sz="1600" dirty="0">
                <a:solidFill>
                  <a:srgbClr val="1F1F1F"/>
                </a:solidFill>
                <a:latin typeface="docs-Roboto"/>
              </a:rPr>
              <a:t>: </a:t>
            </a:r>
            <a:r>
              <a:rPr lang="en-US" altLang="zh-CN" sz="1600" dirty="0">
                <a:solidFill>
                  <a:srgbClr val="1F1F1F"/>
                </a:solidFill>
                <a:latin typeface="docs-Roboto"/>
              </a:rPr>
              <a:t>2.0</a:t>
            </a:r>
            <a:endParaRPr lang="zh-CN" altLang="en-US" sz="1600" dirty="0">
              <a:solidFill>
                <a:srgbClr val="1F1F1F"/>
              </a:solidFill>
              <a:latin typeface="docs-Roboto"/>
            </a:endParaRPr>
          </a:p>
        </p:txBody>
      </p:sp>
      <p:pic>
        <p:nvPicPr>
          <p:cNvPr id="3" name="图片 2">
            <a:extLst>
              <a:ext uri="{FF2B5EF4-FFF2-40B4-BE49-F238E27FC236}">
                <a16:creationId xmlns:a16="http://schemas.microsoft.com/office/drawing/2014/main" id="{90533AF5-CAB4-F336-E19C-8C0D78CE4F79}"/>
              </a:ext>
            </a:extLst>
          </p:cNvPr>
          <p:cNvPicPr>
            <a:picLocks noChangeAspect="1"/>
          </p:cNvPicPr>
          <p:nvPr/>
        </p:nvPicPr>
        <p:blipFill>
          <a:blip r:embed="rId3"/>
          <a:stretch>
            <a:fillRect/>
          </a:stretch>
        </p:blipFill>
        <p:spPr>
          <a:xfrm>
            <a:off x="338056" y="372442"/>
            <a:ext cx="7772400" cy="3838306"/>
          </a:xfrm>
          <a:prstGeom prst="rect">
            <a:avLst/>
          </a:prstGeom>
        </p:spPr>
      </p:pic>
    </p:spTree>
    <p:extLst>
      <p:ext uri="{BB962C8B-B14F-4D97-AF65-F5344CB8AC3E}">
        <p14:creationId xmlns:p14="http://schemas.microsoft.com/office/powerpoint/2010/main" val="1165892583"/>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154F5-E01C-B96B-8193-7E1B1DB501E2}"/>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46D3176-38D6-0F01-8881-0F5E831377B6}"/>
              </a:ext>
            </a:extLst>
          </p:cNvPr>
          <p:cNvSpPr txBox="1"/>
          <p:nvPr/>
        </p:nvSpPr>
        <p:spPr>
          <a:xfrm>
            <a:off x="8441736" y="368683"/>
            <a:ext cx="3412208" cy="1200329"/>
          </a:xfrm>
          <a:prstGeom prst="rect">
            <a:avLst/>
          </a:prstGeom>
          <a:noFill/>
        </p:spPr>
        <p:txBody>
          <a:bodyPr wrap="square" rtlCol="0">
            <a:spAutoFit/>
          </a:bodyPr>
          <a:lstStyle/>
          <a:p>
            <a:r>
              <a:rPr kumimoji="1" lang="en-US" altLang="zh-CN" b="1" dirty="0"/>
              <a:t>S (Skimming): 4 (30.77%)</a:t>
            </a:r>
          </a:p>
          <a:p>
            <a:r>
              <a:rPr kumimoji="1" lang="en-US" altLang="zh-CN" b="1" dirty="0"/>
              <a:t>O (others): 4 (30.77%)</a:t>
            </a:r>
          </a:p>
          <a:p>
            <a:r>
              <a:rPr kumimoji="1" lang="en-US" altLang="zh-CN" dirty="0"/>
              <a:t>R (re-reading): 3 (23.08%)</a:t>
            </a:r>
          </a:p>
          <a:p>
            <a:r>
              <a:rPr kumimoji="1" lang="en-US" altLang="zh-CN" dirty="0"/>
              <a:t>L (linear-reading): 2 (15.38%)</a:t>
            </a:r>
          </a:p>
        </p:txBody>
      </p:sp>
      <p:pic>
        <p:nvPicPr>
          <p:cNvPr id="4" name="图片 3">
            <a:extLst>
              <a:ext uri="{FF2B5EF4-FFF2-40B4-BE49-F238E27FC236}">
                <a16:creationId xmlns:a16="http://schemas.microsoft.com/office/drawing/2014/main" id="{2763FB0B-AEF7-AE17-90B5-4BFD7B0984E1}"/>
              </a:ext>
            </a:extLst>
          </p:cNvPr>
          <p:cNvPicPr>
            <a:picLocks noChangeAspect="1"/>
          </p:cNvPicPr>
          <p:nvPr/>
        </p:nvPicPr>
        <p:blipFill>
          <a:blip r:embed="rId3"/>
          <a:stretch>
            <a:fillRect/>
          </a:stretch>
        </p:blipFill>
        <p:spPr>
          <a:xfrm>
            <a:off x="254051" y="200710"/>
            <a:ext cx="7772400" cy="4181769"/>
          </a:xfrm>
          <a:prstGeom prst="rect">
            <a:avLst/>
          </a:prstGeom>
        </p:spPr>
      </p:pic>
      <p:sp>
        <p:nvSpPr>
          <p:cNvPr id="7" name="文本框 6">
            <a:extLst>
              <a:ext uri="{FF2B5EF4-FFF2-40B4-BE49-F238E27FC236}">
                <a16:creationId xmlns:a16="http://schemas.microsoft.com/office/drawing/2014/main" id="{EEC10A29-9449-2D92-904C-E7F0FC761269}"/>
              </a:ext>
            </a:extLst>
          </p:cNvPr>
          <p:cNvSpPr txBox="1"/>
          <p:nvPr/>
        </p:nvSpPr>
        <p:spPr>
          <a:xfrm>
            <a:off x="685800" y="4786422"/>
            <a:ext cx="7178040" cy="830997"/>
          </a:xfrm>
          <a:prstGeom prst="rect">
            <a:avLst/>
          </a:prstGeom>
          <a:noFill/>
        </p:spPr>
        <p:txBody>
          <a:bodyPr wrap="square">
            <a:spAutoFit/>
          </a:bodyPr>
          <a:lstStyle/>
          <a:p>
            <a:r>
              <a:rPr lang="zh-CN" altLang="zh-CN" sz="1600" dirty="0">
                <a:solidFill>
                  <a:srgbClr val="1F1F1F"/>
                </a:solidFill>
                <a:latin typeface="docs-Roboto"/>
              </a:rPr>
              <a:t>BASE_DUR</a:t>
            </a:r>
            <a:r>
              <a:rPr lang="en-US" altLang="zh-CN" sz="1600" dirty="0">
                <a:solidFill>
                  <a:srgbClr val="1F1F1F"/>
                </a:solidFill>
                <a:latin typeface="docs-Roboto"/>
              </a:rPr>
              <a:t> (</a:t>
            </a:r>
            <a:r>
              <a:rPr lang="zh-CN" altLang="zh-CN" sz="1600" dirty="0">
                <a:solidFill>
                  <a:srgbClr val="1F1F1F"/>
                </a:solidFill>
                <a:latin typeface="docs-Roboto"/>
              </a:rPr>
              <a:t>median</a:t>
            </a:r>
            <a:r>
              <a:rPr lang="en-US" altLang="zh-CN" sz="1600" dirty="0">
                <a:solidFill>
                  <a:srgbClr val="1F1F1F"/>
                </a:solidFill>
                <a:latin typeface="docs-Roboto"/>
              </a:rPr>
              <a:t> of the </a:t>
            </a:r>
            <a:r>
              <a:rPr lang="zh-CN" altLang="zh-CN" sz="1600" dirty="0">
                <a:solidFill>
                  <a:srgbClr val="1F1F1F"/>
                </a:solidFill>
                <a:latin typeface="docs-Roboto"/>
              </a:rPr>
              <a:t>ST</a:t>
            </a:r>
            <a:r>
              <a:rPr lang="en-US" altLang="zh-CN" sz="1600" dirty="0">
                <a:solidFill>
                  <a:srgbClr val="1F1F1F"/>
                </a:solidFill>
                <a:latin typeface="docs-Roboto"/>
              </a:rPr>
              <a:t> </a:t>
            </a:r>
            <a:r>
              <a:rPr lang="zh-CN" altLang="zh-CN" sz="1600" dirty="0">
                <a:solidFill>
                  <a:srgbClr val="1F1F1F"/>
                </a:solidFill>
                <a:latin typeface="docs-Roboto"/>
              </a:rPr>
              <a:t>fixations durations)</a:t>
            </a:r>
            <a:r>
              <a:rPr lang="zh-CN" altLang="zh-CN" sz="1600" b="0" i="0" dirty="0">
                <a:solidFill>
                  <a:srgbClr val="1F1F1F"/>
                </a:solidFill>
                <a:effectLst/>
                <a:latin typeface="docs-Roboto"/>
              </a:rPr>
              <a:t>: 330.0; </a:t>
            </a:r>
            <a:endParaRPr lang="en-US" altLang="zh-CN" sz="1600" b="0" i="0" dirty="0">
              <a:solidFill>
                <a:srgbClr val="1F1F1F"/>
              </a:solidFill>
              <a:effectLst/>
              <a:latin typeface="docs-Roboto"/>
            </a:endParaRPr>
          </a:p>
          <a:p>
            <a:r>
              <a:rPr lang="zh-CN" altLang="zh-CN" sz="1600" b="0" i="0" dirty="0">
                <a:solidFill>
                  <a:srgbClr val="1F1F1F"/>
                </a:solidFill>
                <a:effectLst/>
                <a:latin typeface="docs-Roboto"/>
              </a:rPr>
              <a:t>BASE_WORD_JUMP</a:t>
            </a:r>
            <a:r>
              <a:rPr lang="en-US" altLang="zh-CN" sz="1600" b="0" i="0" dirty="0">
                <a:solidFill>
                  <a:srgbClr val="1F1F1F"/>
                </a:solidFill>
                <a:effectLst/>
                <a:latin typeface="docs-Roboto"/>
              </a:rPr>
              <a:t> (</a:t>
            </a:r>
            <a:r>
              <a:rPr lang="zh-CN" altLang="zh-CN" sz="1600" dirty="0">
                <a:solidFill>
                  <a:srgbClr val="1F1F1F"/>
                </a:solidFill>
                <a:latin typeface="docs-Roboto"/>
              </a:rPr>
              <a:t>median change in word-ID between two successive fixations</a:t>
            </a:r>
            <a:r>
              <a:rPr lang="zh-CN" altLang="en-US" sz="1600" dirty="0">
                <a:solidFill>
                  <a:srgbClr val="1F1F1F"/>
                </a:solidFill>
                <a:latin typeface="docs-Roboto"/>
              </a:rPr>
              <a:t> </a:t>
            </a:r>
            <a:r>
              <a:rPr lang="en-US" altLang="zh-CN" sz="1600" dirty="0">
                <a:solidFill>
                  <a:srgbClr val="1F1F1F"/>
                </a:solidFill>
                <a:latin typeface="docs-Roboto"/>
              </a:rPr>
              <a:t>in</a:t>
            </a:r>
            <a:r>
              <a:rPr lang="zh-CN" altLang="en-US" sz="1600" dirty="0">
                <a:solidFill>
                  <a:srgbClr val="1F1F1F"/>
                </a:solidFill>
                <a:latin typeface="docs-Roboto"/>
              </a:rPr>
              <a:t> </a:t>
            </a:r>
            <a:r>
              <a:rPr lang="en-US" altLang="zh-CN" sz="1600" dirty="0">
                <a:solidFill>
                  <a:srgbClr val="1F1F1F"/>
                </a:solidFill>
                <a:latin typeface="docs-Roboto"/>
              </a:rPr>
              <a:t>the ST window)</a:t>
            </a:r>
            <a:r>
              <a:rPr lang="zh-CN" altLang="zh-CN" sz="1600" dirty="0">
                <a:solidFill>
                  <a:srgbClr val="1F1F1F"/>
                </a:solidFill>
                <a:latin typeface="docs-Roboto"/>
              </a:rPr>
              <a:t>: 2.0</a:t>
            </a:r>
            <a:endParaRPr lang="zh-CN" altLang="en-US" sz="1600" dirty="0">
              <a:solidFill>
                <a:srgbClr val="1F1F1F"/>
              </a:solidFill>
              <a:latin typeface="docs-Roboto"/>
            </a:endParaRPr>
          </a:p>
        </p:txBody>
      </p:sp>
    </p:spTree>
    <p:extLst>
      <p:ext uri="{BB962C8B-B14F-4D97-AF65-F5344CB8AC3E}">
        <p14:creationId xmlns:p14="http://schemas.microsoft.com/office/powerpoint/2010/main" val="1416253014"/>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内容占位符 4">
            <a:extLst>
              <a:ext uri="{FF2B5EF4-FFF2-40B4-BE49-F238E27FC236}">
                <a16:creationId xmlns:a16="http://schemas.microsoft.com/office/drawing/2014/main" id="{6C45335C-1919-92A0-931B-7DFD4C7D7261}"/>
              </a:ext>
            </a:extLst>
          </p:cNvPr>
          <p:cNvPicPr>
            <a:picLocks noGrp="1" noChangeAspect="1"/>
          </p:cNvPicPr>
          <p:nvPr>
            <p:ph idx="1"/>
          </p:nvPr>
        </p:nvPicPr>
        <p:blipFill>
          <a:blip r:embed="rId2"/>
          <a:stretch>
            <a:fillRect/>
          </a:stretch>
        </p:blipFill>
        <p:spPr>
          <a:xfrm>
            <a:off x="2897054" y="672985"/>
            <a:ext cx="6397891" cy="5512029"/>
          </a:xfrm>
          <a:prstGeom prst="rect">
            <a:avLst/>
          </a:prstGeom>
        </p:spPr>
      </p:pic>
    </p:spTree>
    <p:extLst>
      <p:ext uri="{BB962C8B-B14F-4D97-AF65-F5344CB8AC3E}">
        <p14:creationId xmlns:p14="http://schemas.microsoft.com/office/powerpoint/2010/main" val="3540838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756A18-ACBA-D8F6-0D9A-BA52E4FBD843}"/>
              </a:ext>
            </a:extLst>
          </p:cNvPr>
          <p:cNvSpPr>
            <a:spLocks noGrp="1"/>
          </p:cNvSpPr>
          <p:nvPr>
            <p:ph idx="1"/>
          </p:nvPr>
        </p:nvSpPr>
        <p:spPr/>
        <p:txBody>
          <a:bodyPr/>
          <a:lstStyle/>
          <a:p>
            <a:r>
              <a:rPr lang="zh-CN" altLang="zh-CN" dirty="0"/>
              <a:t>Pairwise agreement rates varied considerably across annotators, with a mean of </a:t>
            </a:r>
            <a:r>
              <a:rPr lang="zh-CN" altLang="zh-CN" b="1" dirty="0"/>
              <a:t>37.2%</a:t>
            </a:r>
            <a:r>
              <a:rPr lang="zh-CN" altLang="zh-CN" dirty="0"/>
              <a:t> (SD = 7.8%). The highest agreement was </a:t>
            </a:r>
            <a:r>
              <a:rPr lang="zh-CN" altLang="zh-CN" b="1" dirty="0"/>
              <a:t>46.3% </a:t>
            </a:r>
            <a:r>
              <a:rPr lang="zh-CN" altLang="zh-CN" dirty="0"/>
              <a:t>(J) and the lowest was </a:t>
            </a:r>
            <a:r>
              <a:rPr lang="zh-CN" altLang="zh-CN" b="1" dirty="0"/>
              <a:t>20.4%</a:t>
            </a:r>
            <a:r>
              <a:rPr lang="zh-CN" altLang="zh-CN" dirty="0"/>
              <a:t> (K). This spread suggests that while some annotators consistently aligned with the majority, others diverged, potentially due to task difficulty or the inherent ambiguity of some gaze patterns</a:t>
            </a:r>
            <a:endParaRPr kumimoji="1" lang="zh-CN" altLang="en-US" dirty="0"/>
          </a:p>
        </p:txBody>
      </p:sp>
    </p:spTree>
    <p:extLst>
      <p:ext uri="{BB962C8B-B14F-4D97-AF65-F5344CB8AC3E}">
        <p14:creationId xmlns:p14="http://schemas.microsoft.com/office/powerpoint/2010/main" val="118619155"/>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1843</TotalTime>
  <Words>748</Words>
  <Application>Microsoft Macintosh PowerPoint</Application>
  <PresentationFormat>宽屏</PresentationFormat>
  <Paragraphs>86</Paragraphs>
  <Slides>11</Slides>
  <Notes>1</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11</vt:i4>
      </vt:variant>
    </vt:vector>
  </HeadingPairs>
  <TitlesOfParts>
    <vt:vector size="16" baseType="lpstr">
      <vt:lpstr>等线</vt:lpstr>
      <vt:lpstr>等线 Light</vt:lpstr>
      <vt:lpstr>docs-Roboto</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creator>
  <cp:lastModifiedBy> </cp:lastModifiedBy>
  <cp:revision>20</cp:revision>
  <dcterms:created xsi:type="dcterms:W3CDTF">2026-07-23T06:46:57Z</dcterms:created>
  <dcterms:modified xsi:type="dcterms:W3CDTF">2026-10-20T15:52:03Z</dcterms:modified>
</cp:coreProperties>
</file>