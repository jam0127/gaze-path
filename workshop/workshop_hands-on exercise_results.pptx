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429"/>
    <p:restoredTop sz="91461"/>
  </p:normalViewPr>
  <p:slideViewPr>
    <p:cSldViewPr snapToGrid="0">
      <p:cViewPr>
        <p:scale>
          <a:sx n="58" d="100"/>
          <a:sy n="58" d="100"/>
        </p:scale>
        <p:origin x="89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05007A-4783-B042-92EF-BCECD4219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90B7674-4A3A-BFB8-379F-20028EC5C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CA6511-9025-CD62-FDAD-D4B3D190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54EA-BEF8-1E41-B107-F1495E8B8D04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4CEA56-5CD0-ECB7-5707-2E070045F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DEC2C0-10CE-DCE9-4684-6DEDBC4CA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BB34-167D-5348-9CE2-1DD58122B7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7981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63FBD3-9B98-B0C2-7EC8-A15E3C7A0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9EB0AB-1869-FED4-D40D-DF0742321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9C017D-A262-AE06-C99C-248B772EA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54EA-BEF8-1E41-B107-F1495E8B8D04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4E11C5-2712-A73F-0FE1-1B74EB6AA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5187AC-B1AA-7BC1-C865-9D91DD32B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BB34-167D-5348-9CE2-1DD58122B7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572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12295-0CD9-A1A6-C7D1-AF7712521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0B08A5-DB66-CFAA-9E36-4D47E93C8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F05C55-62CA-B94C-EDBF-3BEE1D68D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54EA-BEF8-1E41-B107-F1495E8B8D04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ED4EAD-0426-BDDD-C7A6-9F4B5149D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A45B01-2CE7-2E54-0A71-E99FE3022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BB34-167D-5348-9CE2-1DD58122B7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3416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EC490C-FF8D-2E39-D3F4-0D05D4962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D239A2-C77F-AFCA-238F-97D364D27B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2F7B61-3C22-A01C-1D9F-B1F97E16A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AC2CB5-9F1F-4FC1-F917-B61260129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54EA-BEF8-1E41-B107-F1495E8B8D04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39EFF1-0FEC-B9EC-3961-21CF83D4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B7F71D-035F-16AC-C61D-D081DC821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BB34-167D-5348-9CE2-1DD58122B7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5441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D1E7E-6FF4-0EBC-0E3B-8C08DEEC3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A2F453-EF56-91E6-C3FD-50B00360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1FAA39-6F8A-1A3B-6C37-A772DA979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2E07D7-8CF3-A863-6B2D-51B174FB11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22A677-74FC-3716-AE6B-363816A51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2EEABE2-0AFB-458E-EABF-6C5F72E6F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54EA-BEF8-1E41-B107-F1495E8B8D04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815EA2-F1C7-F036-1DE1-A6B09D77A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A94569-4166-A188-75AE-63976013C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BB34-167D-5348-9CE2-1DD58122B7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93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5F52F4-F453-AE37-2C28-07BD72457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C1BBF8-531E-01F6-A361-35769828E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54EA-BEF8-1E41-B107-F1495E8B8D04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5E34FF-A651-F5AA-54D6-A245FC418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BC6427-2FC9-BFF7-B337-60391F5F4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BB34-167D-5348-9CE2-1DD58122B7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6830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701480-0CC4-BDED-9F4E-96BD1D679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54EA-BEF8-1E41-B107-F1495E8B8D04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8C42889-CFEF-238B-24FA-9DAD8827E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151106-0E27-257C-60EA-D2384DADB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BB34-167D-5348-9CE2-1DD58122B7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5385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CE9459-DA4F-8BC7-96B1-94535832C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EE45C8-827C-6F6D-2A7E-16BB67B47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55A9C7-2571-B3ED-59E6-2BAFD96EF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743F27-0B0D-CA81-ADDC-D1FDD72A1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54EA-BEF8-1E41-B107-F1495E8B8D04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9785D6-923B-8F7C-990F-9CE2E8BE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0F0590-6519-E804-8C30-A572A3573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BB34-167D-5348-9CE2-1DD58122B7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0297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0F18E-A308-AE67-01E4-5E9F03033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FDFF453-4096-2B92-6E78-AEB520441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BC4E54-1300-7F83-5169-659542CC3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ADAA86-C03F-2302-8D4C-9BFA8AAD6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54EA-BEF8-1E41-B107-F1495E8B8D04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749BF7-1D09-A6E9-DFC8-8A498D1EB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2042F2-77AA-EF6E-0DEB-D5CC1E13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BB34-167D-5348-9CE2-1DD58122B7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3578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DA204-DB83-B7BB-CCD2-9037EBA2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2D8EC2-8ACF-8E94-F9B1-C33975829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7233A1-A2DA-2105-5E3A-9D1CC1B40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54EA-BEF8-1E41-B107-F1495E8B8D04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3AB956-54FF-3B78-CE1D-EC299E48E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A97C32-255C-E6F5-DFF0-41EFCF97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BB34-167D-5348-9CE2-1DD58122B7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5407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60BB92-3795-36AC-B08F-4F485BD05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B7CC2F-6F1B-5088-29A4-927F27451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AEEB2F-7963-0782-1FDB-4931618B3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754EA-BEF8-1E41-B107-F1495E8B8D04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B36AF2-A3BC-F34C-D6F8-C6BDE8A1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37562F-35CF-19D5-8DF2-965005528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DBB34-167D-5348-9CE2-1DD58122B7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126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4B1918-FF1B-33C8-9956-7EA3656B5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218ED3-A85E-B0C1-128E-AFE1DE94F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DE2C90-A839-2C3E-F39D-62854DE01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754EA-BEF8-1E41-B107-F1495E8B8D04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979976-F604-B9A0-D708-D4B5CFEBC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147EC4-4F45-A744-B6A7-6BC3FAE34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CDBB34-167D-5348-9CE2-1DD58122B7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1075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9DDBDAD-988A-3BD6-9686-C290E938B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03" y="693343"/>
            <a:ext cx="8004813" cy="418345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22149A3-4F37-9BD8-DD80-72E1154FEFEE}"/>
              </a:ext>
            </a:extLst>
          </p:cNvPr>
          <p:cNvSpPr txBox="1"/>
          <p:nvPr/>
        </p:nvSpPr>
        <p:spPr>
          <a:xfrm>
            <a:off x="668125" y="5157401"/>
            <a:ext cx="76043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BASE_DUR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(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median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of the 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ST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fixations durations)</a:t>
            </a:r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: 330.0; </a:t>
            </a:r>
            <a:endParaRPr lang="en-US" altLang="zh-CN" sz="1600" b="0" i="0" dirty="0">
              <a:solidFill>
                <a:srgbClr val="1F1F1F"/>
              </a:solidFill>
              <a:effectLst/>
              <a:latin typeface="docs-Roboto"/>
            </a:endParaRPr>
          </a:p>
          <a:p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BASE_WORD_JUMP</a:t>
            </a:r>
            <a:r>
              <a:rPr lang="en-US" altLang="zh-CN" sz="1600" b="0" i="0" dirty="0">
                <a:solidFill>
                  <a:srgbClr val="1F1F1F"/>
                </a:solidFill>
                <a:effectLst/>
                <a:latin typeface="docs-Roboto"/>
              </a:rPr>
              <a:t> (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median change in word-ID between two successive fixations</a:t>
            </a:r>
            <a:r>
              <a:rPr lang="zh-CN" altLang="en-US" sz="1600" dirty="0">
                <a:solidFill>
                  <a:srgbClr val="1F1F1F"/>
                </a:solidFill>
                <a:latin typeface="docs-Roboto"/>
              </a:rPr>
              <a:t> 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in</a:t>
            </a:r>
            <a:r>
              <a:rPr lang="zh-CN" altLang="en-US" sz="1600" dirty="0">
                <a:solidFill>
                  <a:srgbClr val="1F1F1F"/>
                </a:solidFill>
                <a:latin typeface="docs-Roboto"/>
              </a:rPr>
              <a:t> 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the ST window)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: 2.0</a:t>
            </a:r>
            <a:endParaRPr lang="zh-CN" altLang="en-US" sz="1600" dirty="0">
              <a:solidFill>
                <a:srgbClr val="1F1F1F"/>
              </a:solidFill>
              <a:latin typeface="docs-Roboto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77DA34-10BC-84D9-18D6-47BC36AD1B77}"/>
              </a:ext>
            </a:extLst>
          </p:cNvPr>
          <p:cNvSpPr txBox="1"/>
          <p:nvPr/>
        </p:nvSpPr>
        <p:spPr>
          <a:xfrm>
            <a:off x="6777555" y="515659"/>
            <a:ext cx="31694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L (linear-reading): 9 (69.23%)</a:t>
            </a:r>
          </a:p>
          <a:p>
            <a:r>
              <a:rPr kumimoji="1" lang="en-US" altLang="zh-CN" dirty="0"/>
              <a:t>S (Skimming): 3 (23.08%)</a:t>
            </a:r>
          </a:p>
          <a:p>
            <a:r>
              <a:rPr kumimoji="1" lang="en-US" altLang="zh-CN" dirty="0"/>
              <a:t>R (re-reading): 1 (7.69%)</a:t>
            </a:r>
          </a:p>
          <a:p>
            <a:r>
              <a:rPr kumimoji="1" lang="en-US" altLang="zh-CN" dirty="0"/>
              <a:t>O (others): 0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9B79F90-99BD-F15A-D357-AF039F2705F5}"/>
              </a:ext>
            </a:extLst>
          </p:cNvPr>
          <p:cNvSpPr txBox="1"/>
          <p:nvPr/>
        </p:nvSpPr>
        <p:spPr>
          <a:xfrm>
            <a:off x="8653238" y="1818026"/>
            <a:ext cx="33701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Reasons: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L: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“forward, left-to-right”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“sequential, progressive”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“No obvious jumps, no regressions”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“</a:t>
            </a:r>
            <a:r>
              <a:rPr lang="zh-CN" altLang="zh-CN" dirty="0"/>
              <a:t>short sequential saccades</a:t>
            </a:r>
            <a:r>
              <a:rPr lang="en-US" altLang="zh-CN" dirty="0"/>
              <a:t>”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“</a:t>
            </a:r>
            <a:r>
              <a:rPr lang="zh-CN" altLang="zh-CN" dirty="0">
                <a:solidFill>
                  <a:srgbClr val="FF0000"/>
                </a:solidFill>
              </a:rPr>
              <a:t>relatively fast</a:t>
            </a:r>
            <a:r>
              <a:rPr lang="en-US" altLang="zh-CN" dirty="0"/>
              <a:t>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“</a:t>
            </a:r>
            <a:r>
              <a:rPr lang="zh-CN" altLang="zh-CN" dirty="0"/>
              <a:t>consistent fd</a:t>
            </a:r>
            <a:r>
              <a:rPr lang="en-US" altLang="zh-CN" dirty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dirty="0"/>
          </a:p>
          <a:p>
            <a:r>
              <a:rPr kumimoji="1" lang="en-US" altLang="zh-CN" dirty="0"/>
              <a:t>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“</a:t>
            </a:r>
            <a:r>
              <a:rPr kumimoji="1" lang="en-US" altLang="zh-CN" dirty="0">
                <a:solidFill>
                  <a:srgbClr val="FF0000"/>
                </a:solidFill>
              </a:rPr>
              <a:t>back and forth</a:t>
            </a:r>
            <a:r>
              <a:rPr kumimoji="1" lang="en-US" altLang="zh-CN" dirty="0"/>
              <a:t>” 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9836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64613-024F-6AC1-B1E1-9765E508E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A62DC28F-EC8A-C6BA-9B7D-A0B98AEE9266}"/>
              </a:ext>
            </a:extLst>
          </p:cNvPr>
          <p:cNvSpPr txBox="1"/>
          <p:nvPr/>
        </p:nvSpPr>
        <p:spPr>
          <a:xfrm>
            <a:off x="579225" y="4738301"/>
            <a:ext cx="76043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BASE_DUR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(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median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of the 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ST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fixations durations)</a:t>
            </a:r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: 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263</a:t>
            </a:r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.0; </a:t>
            </a:r>
            <a:endParaRPr lang="en-US" altLang="zh-CN" sz="1600" b="0" i="0" dirty="0">
              <a:solidFill>
                <a:srgbClr val="1F1F1F"/>
              </a:solidFill>
              <a:effectLst/>
              <a:latin typeface="docs-Roboto"/>
            </a:endParaRPr>
          </a:p>
          <a:p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BASE_WORD_JUMP</a:t>
            </a:r>
            <a:r>
              <a:rPr lang="en-US" altLang="zh-CN" sz="1600" b="0" i="0" dirty="0">
                <a:solidFill>
                  <a:srgbClr val="1F1F1F"/>
                </a:solidFill>
                <a:effectLst/>
                <a:latin typeface="docs-Roboto"/>
              </a:rPr>
              <a:t> (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median change in word-ID between two successive fixations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in the ST window)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: 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7.5</a:t>
            </a:r>
            <a:endParaRPr lang="zh-CN" altLang="en-US" sz="1600" dirty="0">
              <a:solidFill>
                <a:srgbClr val="1F1F1F"/>
              </a:solidFill>
              <a:latin typeface="docs-Roboto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1D9CC4E-4DB3-A276-8FA2-9D9C8CD88318}"/>
              </a:ext>
            </a:extLst>
          </p:cNvPr>
          <p:cNvSpPr txBox="1"/>
          <p:nvPr/>
        </p:nvSpPr>
        <p:spPr>
          <a:xfrm>
            <a:off x="8467608" y="302505"/>
            <a:ext cx="31694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L (linear-reading): 7 (53.85%)</a:t>
            </a:r>
          </a:p>
          <a:p>
            <a:r>
              <a:rPr kumimoji="1" lang="en-US" altLang="zh-CN" dirty="0"/>
              <a:t>R (re-reading): 3 (23.08%)</a:t>
            </a:r>
          </a:p>
          <a:p>
            <a:r>
              <a:rPr kumimoji="1" lang="en-US" altLang="zh-CN" dirty="0"/>
              <a:t>O (others): 2 (15.38%)</a:t>
            </a:r>
          </a:p>
          <a:p>
            <a:r>
              <a:rPr kumimoji="1" lang="en-US" altLang="zh-CN" dirty="0"/>
              <a:t>S (Skimming): 1 (7.69%)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029A97-CF7D-BE2C-9ABF-0F6E7495E95B}"/>
              </a:ext>
            </a:extLst>
          </p:cNvPr>
          <p:cNvSpPr txBox="1"/>
          <p:nvPr/>
        </p:nvSpPr>
        <p:spPr>
          <a:xfrm>
            <a:off x="8081318" y="1589332"/>
            <a:ext cx="411068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Reasons:</a:t>
            </a:r>
          </a:p>
          <a:p>
            <a:r>
              <a:rPr kumimoji="1" lang="en-US" altLang="zh-CN" dirty="0"/>
              <a:t>L: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“forward; </a:t>
            </a:r>
            <a:r>
              <a:rPr lang="zh-CN" altLang="zh-CN" dirty="0"/>
              <a:t>from the previous word to the next one</a:t>
            </a:r>
            <a:r>
              <a:rPr lang="en-US" altLang="zh-CN" dirty="0"/>
              <a:t>;</a:t>
            </a:r>
            <a:r>
              <a:rPr kumimoji="1" lang="en-US" altLang="zh-CN" dirty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“</a:t>
            </a:r>
            <a:r>
              <a:rPr lang="zh-CN" altLang="zh-CN" dirty="0"/>
              <a:t>no obvious backward regression or large skips</a:t>
            </a:r>
            <a:r>
              <a:rPr kumimoji="1" lang="en-US" altLang="zh-CN" dirty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“</a:t>
            </a:r>
            <a:r>
              <a:rPr lang="zh-CN" altLang="zh-CN" dirty="0">
                <a:solidFill>
                  <a:srgbClr val="FF0000"/>
                </a:solidFill>
              </a:rPr>
              <a:t>it’s a long fixation</a:t>
            </a:r>
            <a:r>
              <a:rPr lang="en-US" altLang="zh-CN" dirty="0"/>
              <a:t>”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“retention”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“stuck on one section”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dirty="0"/>
          </a:p>
          <a:p>
            <a:r>
              <a:rPr kumimoji="1" lang="en-US" altLang="zh-CN" dirty="0"/>
              <a:t>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”</a:t>
            </a:r>
            <a:r>
              <a:rPr lang="zh-CN" altLang="zh-CN" dirty="0"/>
              <a:t> seems linear and then jumps back</a:t>
            </a:r>
            <a:r>
              <a:rPr lang="en-US" altLang="zh-CN" dirty="0"/>
              <a:t>”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“</a:t>
            </a:r>
            <a:r>
              <a:rPr lang="zh-CN" altLang="zh-CN" dirty="0">
                <a:solidFill>
                  <a:srgbClr val="FF0000"/>
                </a:solidFill>
              </a:rPr>
              <a:t>long forward saccades</a:t>
            </a:r>
            <a:r>
              <a:rPr lang="en-US" altLang="zh-CN" dirty="0"/>
              <a:t>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“</a:t>
            </a:r>
            <a:r>
              <a:rPr lang="zh-CN" altLang="zh-CN" dirty="0"/>
              <a:t>no regressions</a:t>
            </a:r>
            <a:r>
              <a:rPr lang="en-US" altLang="zh-CN" dirty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A9D597-4D6B-7DC5-6367-8A9F96ED1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45" y="401359"/>
            <a:ext cx="7772400" cy="382563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E000610-8FF5-3A70-947C-4C1205113BD7}"/>
              </a:ext>
            </a:extLst>
          </p:cNvPr>
          <p:cNvSpPr/>
          <p:nvPr/>
        </p:nvSpPr>
        <p:spPr>
          <a:xfrm>
            <a:off x="5448300" y="2679700"/>
            <a:ext cx="330200" cy="154729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4957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E3237-6C80-F557-42E8-2A45EE943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214D468-703E-3B15-0F70-1C81A84C77A7}"/>
              </a:ext>
            </a:extLst>
          </p:cNvPr>
          <p:cNvSpPr txBox="1"/>
          <p:nvPr/>
        </p:nvSpPr>
        <p:spPr>
          <a:xfrm>
            <a:off x="476927" y="4194604"/>
            <a:ext cx="76043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BASE_DUR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(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median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of the 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ST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fixations durations)</a:t>
            </a:r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: 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263</a:t>
            </a:r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.0; </a:t>
            </a:r>
            <a:endParaRPr lang="en-US" altLang="zh-CN" sz="1600" b="0" i="0" dirty="0">
              <a:solidFill>
                <a:srgbClr val="1F1F1F"/>
              </a:solidFill>
              <a:effectLst/>
              <a:latin typeface="docs-Roboto"/>
            </a:endParaRPr>
          </a:p>
          <a:p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BASE_WORD_JUMP</a:t>
            </a:r>
            <a:r>
              <a:rPr lang="en-US" altLang="zh-CN" sz="1600" b="0" i="0" dirty="0">
                <a:solidFill>
                  <a:srgbClr val="1F1F1F"/>
                </a:solidFill>
                <a:effectLst/>
                <a:latin typeface="docs-Roboto"/>
              </a:rPr>
              <a:t> (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median change in word-ID between two successive fixations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in the ST window)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: 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7.5</a:t>
            </a:r>
            <a:endParaRPr lang="zh-CN" altLang="en-US" sz="1600" dirty="0">
              <a:solidFill>
                <a:srgbClr val="1F1F1F"/>
              </a:solidFill>
              <a:latin typeface="docs-Roboto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2C7476-916B-9F3B-0AED-81581BCF6D81}"/>
              </a:ext>
            </a:extLst>
          </p:cNvPr>
          <p:cNvSpPr txBox="1"/>
          <p:nvPr/>
        </p:nvSpPr>
        <p:spPr>
          <a:xfrm>
            <a:off x="8467608" y="302505"/>
            <a:ext cx="29899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R (re-reading): 8 (61.54%)</a:t>
            </a:r>
          </a:p>
          <a:p>
            <a:r>
              <a:rPr kumimoji="1" lang="en-US" altLang="zh-CN" dirty="0"/>
              <a:t>S (Skimming): 3 (23.08%)</a:t>
            </a:r>
          </a:p>
          <a:p>
            <a:r>
              <a:rPr kumimoji="1" lang="en-US" altLang="zh-CN" dirty="0"/>
              <a:t>L (linear-reading): 1 (15.38%)</a:t>
            </a:r>
          </a:p>
          <a:p>
            <a:r>
              <a:rPr kumimoji="1" lang="en-US" altLang="zh-CN" dirty="0"/>
              <a:t>O (others): 1 (15.38%)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34C99D3-3BC9-44DE-A457-4E90AA960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83" y="159614"/>
            <a:ext cx="7772400" cy="374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75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95377-3E18-DD94-3C3A-B8194F1E6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C4E652FD-F883-9713-E136-B3BE5470FCCD}"/>
              </a:ext>
            </a:extLst>
          </p:cNvPr>
          <p:cNvSpPr txBox="1"/>
          <p:nvPr/>
        </p:nvSpPr>
        <p:spPr>
          <a:xfrm>
            <a:off x="338056" y="4566405"/>
            <a:ext cx="76043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BASE_DUR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(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median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of the T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T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fixations durations)</a:t>
            </a:r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: 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263</a:t>
            </a:r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.0; </a:t>
            </a:r>
            <a:endParaRPr lang="en-US" altLang="zh-CN" sz="1600" b="0" i="0" dirty="0">
              <a:solidFill>
                <a:srgbClr val="1F1F1F"/>
              </a:solidFill>
              <a:effectLst/>
              <a:latin typeface="docs-Roboto"/>
            </a:endParaRPr>
          </a:p>
          <a:p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BASE_WORD_JUMP</a:t>
            </a:r>
            <a:r>
              <a:rPr lang="en-US" altLang="zh-CN" sz="1600" b="0" i="0" dirty="0">
                <a:solidFill>
                  <a:srgbClr val="1F1F1F"/>
                </a:solidFill>
                <a:effectLst/>
                <a:latin typeface="docs-Roboto"/>
              </a:rPr>
              <a:t> (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median change in word-ID between two successive fixations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in the TT window)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: 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5.0</a:t>
            </a:r>
            <a:endParaRPr lang="zh-CN" altLang="en-US" sz="1600" dirty="0">
              <a:solidFill>
                <a:srgbClr val="1F1F1F"/>
              </a:solidFill>
              <a:latin typeface="docs-Roboto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26041B-4203-F86C-DE46-9B80732652BD}"/>
              </a:ext>
            </a:extLst>
          </p:cNvPr>
          <p:cNvSpPr txBox="1"/>
          <p:nvPr/>
        </p:nvSpPr>
        <p:spPr>
          <a:xfrm>
            <a:off x="8467608" y="389003"/>
            <a:ext cx="3074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O (others): 6 (46.15%)</a:t>
            </a:r>
          </a:p>
          <a:p>
            <a:r>
              <a:rPr kumimoji="1" lang="en-US" altLang="zh-CN" dirty="0"/>
              <a:t>L (linear-reading): 5 (38.46%)</a:t>
            </a:r>
            <a:endParaRPr kumimoji="1" lang="en-US" altLang="zh-CN" b="1" dirty="0"/>
          </a:p>
          <a:p>
            <a:r>
              <a:rPr kumimoji="1" lang="en-US" altLang="zh-CN" dirty="0"/>
              <a:t>R (re-reading): 1 (15.38%)</a:t>
            </a:r>
          </a:p>
          <a:p>
            <a:r>
              <a:rPr kumimoji="1" lang="en-US" altLang="zh-CN" dirty="0"/>
              <a:t>S (Skimming): 1 (15.38%)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FB2C017-D4EE-A7E1-6C92-89EF6ECA9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46" y="-1"/>
            <a:ext cx="7957953" cy="410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075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A9B60-6EDF-83F4-8149-51A9CA01A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E27514FC-520E-B036-2219-947459D6D2EE}"/>
              </a:ext>
            </a:extLst>
          </p:cNvPr>
          <p:cNvSpPr txBox="1"/>
          <p:nvPr/>
        </p:nvSpPr>
        <p:spPr>
          <a:xfrm>
            <a:off x="338056" y="4566405"/>
            <a:ext cx="76043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BASE_DUR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(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median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of the T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T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fixations durations)</a:t>
            </a:r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: </a:t>
            </a:r>
            <a:r>
              <a:rPr lang="en-US" altLang="zh-CN" sz="1600" b="0" i="0" dirty="0">
                <a:solidFill>
                  <a:srgbClr val="1F1F1F"/>
                </a:solidFill>
                <a:effectLst/>
                <a:latin typeface="docs-Roboto"/>
              </a:rPr>
              <a:t>468</a:t>
            </a:r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.0; </a:t>
            </a:r>
            <a:endParaRPr lang="en-US" altLang="zh-CN" sz="1600" b="0" i="0" dirty="0">
              <a:solidFill>
                <a:srgbClr val="1F1F1F"/>
              </a:solidFill>
              <a:effectLst/>
              <a:latin typeface="docs-Roboto"/>
            </a:endParaRPr>
          </a:p>
          <a:p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BASE_WORD_JUMP</a:t>
            </a:r>
            <a:r>
              <a:rPr lang="en-US" altLang="zh-CN" sz="1600" b="0" i="0" dirty="0">
                <a:solidFill>
                  <a:srgbClr val="1F1F1F"/>
                </a:solidFill>
                <a:effectLst/>
                <a:latin typeface="docs-Roboto"/>
              </a:rPr>
              <a:t> (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median change in word-ID between two successive fixations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in the TT window)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: 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4.0</a:t>
            </a:r>
            <a:endParaRPr lang="zh-CN" altLang="en-US" sz="1600" dirty="0">
              <a:solidFill>
                <a:srgbClr val="1F1F1F"/>
              </a:solidFill>
              <a:latin typeface="docs-Roboto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E259FC-914C-9B31-F7A2-2F34C2730589}"/>
              </a:ext>
            </a:extLst>
          </p:cNvPr>
          <p:cNvSpPr txBox="1"/>
          <p:nvPr/>
        </p:nvSpPr>
        <p:spPr>
          <a:xfrm>
            <a:off x="8467608" y="389003"/>
            <a:ext cx="3074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R (re-reading): 5 (38.46%)</a:t>
            </a:r>
          </a:p>
          <a:p>
            <a:r>
              <a:rPr kumimoji="1" lang="en-US" altLang="zh-CN" dirty="0"/>
              <a:t>S (Skimming): 4 (30.77%)</a:t>
            </a:r>
            <a:endParaRPr kumimoji="1" lang="en-US" altLang="zh-CN" b="1" dirty="0"/>
          </a:p>
          <a:p>
            <a:r>
              <a:rPr kumimoji="1" lang="en-US" altLang="zh-CN" dirty="0"/>
              <a:t>O (others): 4 (30.77%)</a:t>
            </a:r>
          </a:p>
          <a:p>
            <a:r>
              <a:rPr kumimoji="1" lang="en-US" altLang="zh-CN" dirty="0"/>
              <a:t>L (linear-reading): 0</a:t>
            </a:r>
            <a:endParaRPr kumimoji="1" lang="en-US" altLang="zh-CN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607A8A5-7F00-C6DD-2177-F14ABC6B3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913"/>
            <a:ext cx="8475452" cy="405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573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C077A-9BA2-4EE8-E858-F26B60C4B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17F8274-665B-722B-DB91-4FB64307BEBF}"/>
              </a:ext>
            </a:extLst>
          </p:cNvPr>
          <p:cNvSpPr txBox="1"/>
          <p:nvPr/>
        </p:nvSpPr>
        <p:spPr>
          <a:xfrm>
            <a:off x="338056" y="4566405"/>
            <a:ext cx="76043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BASE_DUR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(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median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of the 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ST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fixations durations): 330.0; </a:t>
            </a:r>
            <a:endParaRPr lang="en-US" altLang="zh-CN" sz="1600" dirty="0">
              <a:solidFill>
                <a:srgbClr val="1F1F1F"/>
              </a:solidFill>
              <a:latin typeface="docs-Roboto"/>
            </a:endParaRPr>
          </a:p>
          <a:p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BASE_WORD_JUMP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(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median change in word-ID between two successive fixations</a:t>
            </a:r>
            <a:r>
              <a:rPr lang="zh-CN" altLang="en-US" sz="1600" dirty="0">
                <a:solidFill>
                  <a:srgbClr val="1F1F1F"/>
                </a:solidFill>
                <a:latin typeface="docs-Roboto"/>
              </a:rPr>
              <a:t> 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in</a:t>
            </a:r>
            <a:r>
              <a:rPr lang="zh-CN" altLang="en-US" sz="1600" dirty="0">
                <a:solidFill>
                  <a:srgbClr val="1F1F1F"/>
                </a:solidFill>
                <a:latin typeface="docs-Roboto"/>
              </a:rPr>
              <a:t> 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the ST window)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: 2.0</a:t>
            </a:r>
            <a:endParaRPr lang="zh-CN" altLang="en-US" sz="1600" dirty="0">
              <a:solidFill>
                <a:srgbClr val="1F1F1F"/>
              </a:solidFill>
              <a:latin typeface="docs-Roboto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6CA0CA-B025-D602-7457-EE0A07DE17D2}"/>
              </a:ext>
            </a:extLst>
          </p:cNvPr>
          <p:cNvSpPr txBox="1"/>
          <p:nvPr/>
        </p:nvSpPr>
        <p:spPr>
          <a:xfrm>
            <a:off x="8833368" y="429643"/>
            <a:ext cx="3074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R (re-reading): 8 (61.54%)</a:t>
            </a:r>
          </a:p>
          <a:p>
            <a:r>
              <a:rPr kumimoji="1" lang="en-US" altLang="zh-CN" dirty="0"/>
              <a:t>O (others): 3 (23.08%)</a:t>
            </a:r>
          </a:p>
          <a:p>
            <a:r>
              <a:rPr kumimoji="1" lang="en-US" altLang="zh-CN" dirty="0"/>
              <a:t>L (linear-reading): 2 (15.38%)</a:t>
            </a:r>
          </a:p>
          <a:p>
            <a:r>
              <a:rPr kumimoji="1" lang="en-US" altLang="zh-CN" dirty="0"/>
              <a:t>S (Skimming): 0</a:t>
            </a:r>
            <a:endParaRPr kumimoji="1" lang="en-US" altLang="zh-CN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B4E8E5-5ED0-D730-4CDE-322E552D1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7" y="259535"/>
            <a:ext cx="8503639" cy="406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723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0FC86-9D46-63E8-E160-18843F412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39F324E7-7C77-A947-13A9-7B1C052824C2}"/>
              </a:ext>
            </a:extLst>
          </p:cNvPr>
          <p:cNvSpPr txBox="1"/>
          <p:nvPr/>
        </p:nvSpPr>
        <p:spPr>
          <a:xfrm>
            <a:off x="8833368" y="429643"/>
            <a:ext cx="3074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S (Skimming): 7 (53.85%)</a:t>
            </a:r>
          </a:p>
          <a:p>
            <a:r>
              <a:rPr kumimoji="1" lang="en-US" altLang="zh-CN" dirty="0"/>
              <a:t>R (re-reading): 3 (23.08%)</a:t>
            </a:r>
          </a:p>
          <a:p>
            <a:r>
              <a:rPr kumimoji="1" lang="en-US" altLang="zh-CN" dirty="0"/>
              <a:t>L (linear-reading): 2 (15.38%)</a:t>
            </a:r>
          </a:p>
          <a:p>
            <a:r>
              <a:rPr kumimoji="1" lang="en-US" altLang="zh-CN" dirty="0"/>
              <a:t>O (others): 1 (23.08%)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6CDB3B-556A-2C70-F9D7-FD035DC60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28" y="398934"/>
            <a:ext cx="7772400" cy="378532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B97EA88-7CAE-BFD0-1DCC-CBB8AD9398CC}"/>
              </a:ext>
            </a:extLst>
          </p:cNvPr>
          <p:cNvSpPr txBox="1"/>
          <p:nvPr/>
        </p:nvSpPr>
        <p:spPr>
          <a:xfrm>
            <a:off x="338056" y="4566405"/>
            <a:ext cx="76043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BASE_DUR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(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median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of the T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T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fixations durations)</a:t>
            </a:r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: 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263</a:t>
            </a:r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.0; </a:t>
            </a:r>
            <a:endParaRPr lang="en-US" altLang="zh-CN" sz="1600" b="0" i="0" dirty="0">
              <a:solidFill>
                <a:srgbClr val="1F1F1F"/>
              </a:solidFill>
              <a:effectLst/>
              <a:latin typeface="docs-Roboto"/>
            </a:endParaRPr>
          </a:p>
          <a:p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BASE_WORD_JUMP</a:t>
            </a:r>
            <a:r>
              <a:rPr lang="en-US" altLang="zh-CN" sz="1600" b="0" i="0" dirty="0">
                <a:solidFill>
                  <a:srgbClr val="1F1F1F"/>
                </a:solidFill>
                <a:effectLst/>
                <a:latin typeface="docs-Roboto"/>
              </a:rPr>
              <a:t> (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median change in word-ID between two successive fixations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in the TT window)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: 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5.0</a:t>
            </a:r>
            <a:endParaRPr lang="zh-CN" altLang="en-US" sz="1600" dirty="0">
              <a:solidFill>
                <a:srgbClr val="1F1F1F"/>
              </a:solidFill>
              <a:latin typeface="docs-Roboto"/>
            </a:endParaRPr>
          </a:p>
        </p:txBody>
      </p:sp>
    </p:spTree>
    <p:extLst>
      <p:ext uri="{BB962C8B-B14F-4D97-AF65-F5344CB8AC3E}">
        <p14:creationId xmlns:p14="http://schemas.microsoft.com/office/powerpoint/2010/main" val="285619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5EA59-A3A9-EAD6-3A0B-C8C54B2A7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FE951B43-C479-AD8C-8671-5F8A9DD433DC}"/>
              </a:ext>
            </a:extLst>
          </p:cNvPr>
          <p:cNvSpPr txBox="1"/>
          <p:nvPr/>
        </p:nvSpPr>
        <p:spPr>
          <a:xfrm>
            <a:off x="8441736" y="368683"/>
            <a:ext cx="3412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L (linear-reading): 10 (76.92%)</a:t>
            </a:r>
          </a:p>
          <a:p>
            <a:r>
              <a:rPr kumimoji="1" lang="en-US" altLang="zh-CN" dirty="0"/>
              <a:t>O (others): 2 (15.38%)</a:t>
            </a:r>
          </a:p>
          <a:p>
            <a:r>
              <a:rPr kumimoji="1" lang="en-US" altLang="zh-CN" dirty="0"/>
              <a:t>R (re-reading): 1 (7.69%)</a:t>
            </a:r>
          </a:p>
          <a:p>
            <a:r>
              <a:rPr kumimoji="1" lang="en-US" altLang="zh-CN" dirty="0"/>
              <a:t>S (Skimming): 0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7378FD-F6C7-0D15-A2AE-5D9C385CEF20}"/>
              </a:ext>
            </a:extLst>
          </p:cNvPr>
          <p:cNvSpPr txBox="1"/>
          <p:nvPr/>
        </p:nvSpPr>
        <p:spPr>
          <a:xfrm>
            <a:off x="338056" y="4566405"/>
            <a:ext cx="76043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BASE_DUR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(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median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of the T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T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fixations durations)</a:t>
            </a:r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: </a:t>
            </a:r>
            <a:r>
              <a:rPr lang="en-US" altLang="zh-CN" sz="1600" b="0" i="0" dirty="0">
                <a:solidFill>
                  <a:srgbClr val="1F1F1F"/>
                </a:solidFill>
                <a:effectLst/>
                <a:latin typeface="docs-Roboto"/>
              </a:rPr>
              <a:t>340</a:t>
            </a:r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.0; </a:t>
            </a:r>
            <a:endParaRPr lang="en-US" altLang="zh-CN" sz="1600" b="0" i="0" dirty="0">
              <a:solidFill>
                <a:srgbClr val="1F1F1F"/>
              </a:solidFill>
              <a:effectLst/>
              <a:latin typeface="docs-Roboto"/>
            </a:endParaRPr>
          </a:p>
          <a:p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BASE_WORD_JUMP</a:t>
            </a:r>
            <a:r>
              <a:rPr lang="en-US" altLang="zh-CN" sz="1600" b="0" i="0" dirty="0">
                <a:solidFill>
                  <a:srgbClr val="1F1F1F"/>
                </a:solidFill>
                <a:effectLst/>
                <a:latin typeface="docs-Roboto"/>
              </a:rPr>
              <a:t> (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median change in word-ID between two successive fixations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in the TT window)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: 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2.0</a:t>
            </a:r>
            <a:endParaRPr lang="zh-CN" altLang="en-US" sz="1600" dirty="0">
              <a:solidFill>
                <a:srgbClr val="1F1F1F"/>
              </a:solidFill>
              <a:latin typeface="docs-Roboto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533AF5-CAB4-F336-E19C-8C0D78CE4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56" y="154403"/>
            <a:ext cx="7772400" cy="383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92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154F5-E01C-B96B-8193-7E1B1DB50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346D3176-38D6-0F01-8881-0F5E831377B6}"/>
              </a:ext>
            </a:extLst>
          </p:cNvPr>
          <p:cNvSpPr txBox="1"/>
          <p:nvPr/>
        </p:nvSpPr>
        <p:spPr>
          <a:xfrm>
            <a:off x="8441736" y="368683"/>
            <a:ext cx="3412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S (Skimming): 4 (30.77%)</a:t>
            </a:r>
          </a:p>
          <a:p>
            <a:r>
              <a:rPr kumimoji="1" lang="en-US" altLang="zh-CN" b="1" dirty="0"/>
              <a:t>O (others): 4 (30.77%)</a:t>
            </a:r>
          </a:p>
          <a:p>
            <a:r>
              <a:rPr kumimoji="1" lang="en-US" altLang="zh-CN" dirty="0"/>
              <a:t>R (re-reading): 3 (23.08%)</a:t>
            </a:r>
          </a:p>
          <a:p>
            <a:r>
              <a:rPr kumimoji="1" lang="en-US" altLang="zh-CN" dirty="0"/>
              <a:t>L (linear-reading): 2 (15.38%)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63FB0B-AEF7-AE17-90B5-4BFD7B098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51" y="200710"/>
            <a:ext cx="7772400" cy="41817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EC10A29-9449-2D92-904C-E7F0FC761269}"/>
              </a:ext>
            </a:extLst>
          </p:cNvPr>
          <p:cNvSpPr txBox="1"/>
          <p:nvPr/>
        </p:nvSpPr>
        <p:spPr>
          <a:xfrm>
            <a:off x="685800" y="4786422"/>
            <a:ext cx="7178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BASE_DUR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(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median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of the 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ST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 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fixations durations)</a:t>
            </a:r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: 330.0; </a:t>
            </a:r>
            <a:endParaRPr lang="en-US" altLang="zh-CN" sz="1600" b="0" i="0" dirty="0">
              <a:solidFill>
                <a:srgbClr val="1F1F1F"/>
              </a:solidFill>
              <a:effectLst/>
              <a:latin typeface="docs-Roboto"/>
            </a:endParaRPr>
          </a:p>
          <a:p>
            <a:r>
              <a:rPr lang="zh-CN" altLang="zh-CN" sz="1600" b="0" i="0" dirty="0">
                <a:solidFill>
                  <a:srgbClr val="1F1F1F"/>
                </a:solidFill>
                <a:effectLst/>
                <a:latin typeface="docs-Roboto"/>
              </a:rPr>
              <a:t>BASE_WORD_JUMP</a:t>
            </a:r>
            <a:r>
              <a:rPr lang="en-US" altLang="zh-CN" sz="1600" b="0" i="0" dirty="0">
                <a:solidFill>
                  <a:srgbClr val="1F1F1F"/>
                </a:solidFill>
                <a:effectLst/>
                <a:latin typeface="docs-Roboto"/>
              </a:rPr>
              <a:t> (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median change in word-ID between two successive fixations</a:t>
            </a:r>
            <a:r>
              <a:rPr lang="zh-CN" altLang="en-US" sz="1600" dirty="0">
                <a:solidFill>
                  <a:srgbClr val="1F1F1F"/>
                </a:solidFill>
                <a:latin typeface="docs-Roboto"/>
              </a:rPr>
              <a:t> 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in</a:t>
            </a:r>
            <a:r>
              <a:rPr lang="zh-CN" altLang="en-US" sz="1600" dirty="0">
                <a:solidFill>
                  <a:srgbClr val="1F1F1F"/>
                </a:solidFill>
                <a:latin typeface="docs-Roboto"/>
              </a:rPr>
              <a:t> </a:t>
            </a:r>
            <a:r>
              <a:rPr lang="en-US" altLang="zh-CN" sz="1600" dirty="0">
                <a:solidFill>
                  <a:srgbClr val="1F1F1F"/>
                </a:solidFill>
                <a:latin typeface="docs-Roboto"/>
              </a:rPr>
              <a:t>the ST window)</a:t>
            </a:r>
            <a:r>
              <a:rPr lang="zh-CN" altLang="zh-CN" sz="1600" dirty="0">
                <a:solidFill>
                  <a:srgbClr val="1F1F1F"/>
                </a:solidFill>
                <a:latin typeface="docs-Roboto"/>
              </a:rPr>
              <a:t>: 2.0</a:t>
            </a:r>
            <a:endParaRPr lang="zh-CN" altLang="en-US" sz="1600" dirty="0">
              <a:solidFill>
                <a:srgbClr val="1F1F1F"/>
              </a:solidFill>
              <a:latin typeface="docs-Roboto"/>
            </a:endParaRPr>
          </a:p>
        </p:txBody>
      </p:sp>
    </p:spTree>
    <p:extLst>
      <p:ext uri="{BB962C8B-B14F-4D97-AF65-F5344CB8AC3E}">
        <p14:creationId xmlns:p14="http://schemas.microsoft.com/office/powerpoint/2010/main" val="1416253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C45335C-1919-92A0-931B-7DFD4C7D72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7054" y="672985"/>
            <a:ext cx="6397891" cy="551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38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56A18-ACBA-D8F6-0D9A-BA52E4FBD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Pairwise agreement rates varied considerably across annotators, with a mean of </a:t>
            </a:r>
            <a:r>
              <a:rPr lang="zh-CN" altLang="zh-CN" b="1" dirty="0"/>
              <a:t>37.2%</a:t>
            </a:r>
            <a:r>
              <a:rPr lang="zh-CN" altLang="zh-CN" dirty="0"/>
              <a:t> (SD = 7.8%). The highest agreement was </a:t>
            </a:r>
            <a:r>
              <a:rPr lang="zh-CN" altLang="zh-CN" b="1" dirty="0"/>
              <a:t>46.3% </a:t>
            </a:r>
            <a:r>
              <a:rPr lang="zh-CN" altLang="zh-CN" dirty="0"/>
              <a:t>(J) and the lowest was </a:t>
            </a:r>
            <a:r>
              <a:rPr lang="zh-CN" altLang="zh-CN" b="1" dirty="0"/>
              <a:t>20.4%</a:t>
            </a:r>
            <a:r>
              <a:rPr lang="zh-CN" altLang="zh-CN" dirty="0"/>
              <a:t> (K). This spread suggests that while some annotators consistently aligned with the majority, others diverged, potentially due to task difficulty or the inherent ambiguity of some gaze patterns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619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745</Words>
  <Application>Microsoft Macintosh PowerPoint</Application>
  <PresentationFormat>宽屏</PresentationFormat>
  <Paragraphs>85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docs-Roboto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 </dc:creator>
  <cp:lastModifiedBy> </cp:lastModifiedBy>
  <cp:revision>12</cp:revision>
  <dcterms:created xsi:type="dcterms:W3CDTF">2026-07-23T06:46:57Z</dcterms:created>
  <dcterms:modified xsi:type="dcterms:W3CDTF">2026-07-23T08:02:09Z</dcterms:modified>
</cp:coreProperties>
</file>